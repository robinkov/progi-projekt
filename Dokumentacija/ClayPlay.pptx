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291" r:id="rId7"/>
    <p:sldId id="264" r:id="rId8"/>
    <p:sldId id="268" r:id="rId9"/>
    <p:sldId id="293" r:id="rId10"/>
    <p:sldId id="262" r:id="rId11"/>
    <p:sldId id="294" r:id="rId12"/>
    <p:sldId id="279" r:id="rId13"/>
    <p:sldId id="292" r:id="rId14"/>
    <p:sldId id="295" r:id="rId15"/>
    <p:sldId id="296" r:id="rId16"/>
    <p:sldId id="260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24E7F"/>
    <a:srgbClr val="F8F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D9A7E-49A3-60EA-CFAF-51A1560D9243}" v="70" dt="2026-01-23T11:54:21.391"/>
    <p1510:client id="{1F5F72E0-5BCF-1963-68D1-1C6CEDF0B38C}" v="34" dt="2026-01-23T17:39:51.075"/>
    <p1510:client id="{48ED27A8-A666-94AA-2477-E696237EFD2E}" v="42" dt="2026-01-23T07:38:20.653"/>
    <p1510:client id="{6145506C-EC64-30E7-BB2E-E137523381E7}" v="110" dt="2026-01-23T15:47:26.884"/>
    <p1510:client id="{9FAAC1E3-BFDA-45F9-9E73-CB97F2AD5A3C}" v="28" dt="2026-01-23T11:30:30.493"/>
    <p1510:client id="{BFF7FC81-083D-06A4-567C-6C6BC71DE5E1}" v="31" dt="2026-01-23T15:34:58.443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792"/>
        <p:guide pos="3144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C5F1BE-DF29-4B35-AD93-BCEFAE8832B2}" type="doc">
      <dgm:prSet loTypeId="urn:microsoft.com/office/officeart/2005/8/layout/hList1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5104ED-570A-4E34-B5AE-29A50A603E17}">
      <dgm:prSet phldrT="[Text]" phldr="0"/>
      <dgm:spPr/>
      <dgm:t>
        <a:bodyPr/>
        <a:lstStyle/>
        <a:p>
          <a:pPr rtl="0"/>
          <a:r>
            <a:rPr lang="en-US" dirty="0">
              <a:latin typeface="Avenir Next LT Pro"/>
            </a:rPr>
            <a:t> </a:t>
          </a:r>
          <a:r>
            <a:rPr lang="en-US" sz="2200" dirty="0">
              <a:latin typeface="Avenir Next LT Pro"/>
            </a:rPr>
            <a:t>KOMPONENTI</a:t>
          </a:r>
          <a:endParaRPr lang="en-US" sz="1800" dirty="0">
            <a:latin typeface="Avenir Next LT Pro"/>
          </a:endParaRPr>
        </a:p>
      </dgm:t>
    </dgm:pt>
    <dgm:pt modelId="{C1C63658-D87B-4E79-99F4-19D3C3608894}" type="parTrans" cxnId="{6CC9C86B-9C1C-4F12-A73F-7FDC8D0147DE}">
      <dgm:prSet/>
      <dgm:spPr/>
      <dgm:t>
        <a:bodyPr/>
        <a:lstStyle/>
        <a:p>
          <a:endParaRPr lang="en-US"/>
        </a:p>
      </dgm:t>
    </dgm:pt>
    <dgm:pt modelId="{B19FEAA4-AF11-4C6D-84A7-BE36E2F39EBB}" type="sibTrans" cxnId="{6CC9C86B-9C1C-4F12-A73F-7FDC8D0147DE}">
      <dgm:prSet/>
      <dgm:spPr/>
      <dgm:t>
        <a:bodyPr/>
        <a:lstStyle/>
        <a:p>
          <a:endParaRPr lang="en-US"/>
        </a:p>
      </dgm:t>
    </dgm:pt>
    <dgm:pt modelId="{C8C730CC-F0B6-432D-9532-AFF66AB7A4F3}">
      <dgm:prSet phldrT="[Text]" phldr="0"/>
      <dgm:spPr/>
      <dgm:t>
        <a:bodyPr/>
        <a:lstStyle/>
        <a:p>
          <a:pPr rtl="0"/>
          <a:r>
            <a:rPr lang="en-US" sz="1400" dirty="0">
              <a:latin typeface="Avenir Next LT Pro"/>
            </a:rPr>
            <a:t>fetch wrapperi</a:t>
          </a:r>
          <a:endParaRPr lang="en-US" sz="1400" dirty="0"/>
        </a:p>
      </dgm:t>
    </dgm:pt>
    <dgm:pt modelId="{9CE0F41B-3FEA-4A3A-A947-5D2340B70DA1}" type="parTrans" cxnId="{95867D5E-E286-4BCF-A836-D62FAE3A9B01}">
      <dgm:prSet/>
      <dgm:spPr/>
      <dgm:t>
        <a:bodyPr/>
        <a:lstStyle/>
        <a:p>
          <a:endParaRPr lang="en-US"/>
        </a:p>
      </dgm:t>
    </dgm:pt>
    <dgm:pt modelId="{81AF0F20-B130-48C2-AF4C-4B35A61A1FC0}" type="sibTrans" cxnId="{95867D5E-E286-4BCF-A836-D62FAE3A9B01}">
      <dgm:prSet/>
      <dgm:spPr/>
      <dgm:t>
        <a:bodyPr/>
        <a:lstStyle/>
        <a:p>
          <a:endParaRPr lang="en-US"/>
        </a:p>
      </dgm:t>
    </dgm:pt>
    <dgm:pt modelId="{7FFC4C7B-5BEF-438E-BB02-D7B1C53B7770}">
      <dgm:prSet phldrT="[Text]" phldr="0"/>
      <dgm:spPr/>
      <dgm:t>
        <a:bodyPr/>
        <a:lstStyle/>
        <a:p>
          <a:r>
            <a:rPr lang="en-US" dirty="0">
              <a:latin typeface="Avenir Next LT Pro"/>
            </a:rPr>
            <a:t>SUSTAVA</a:t>
          </a:r>
          <a:endParaRPr lang="en-US" dirty="0"/>
        </a:p>
      </dgm:t>
    </dgm:pt>
    <dgm:pt modelId="{0A1714D0-36C9-4592-B6EC-306C60293BFA}" type="parTrans" cxnId="{1CF6E6A9-3E5D-4D1E-8877-A37D46AC7006}">
      <dgm:prSet/>
      <dgm:spPr/>
      <dgm:t>
        <a:bodyPr/>
        <a:lstStyle/>
        <a:p>
          <a:endParaRPr lang="en-US"/>
        </a:p>
      </dgm:t>
    </dgm:pt>
    <dgm:pt modelId="{41259681-45B9-4127-985F-FFA5940973FE}" type="sibTrans" cxnId="{1CF6E6A9-3E5D-4D1E-8877-A37D46AC7006}">
      <dgm:prSet/>
      <dgm:spPr/>
      <dgm:t>
        <a:bodyPr/>
        <a:lstStyle/>
        <a:p>
          <a:endParaRPr lang="en-US"/>
        </a:p>
      </dgm:t>
    </dgm:pt>
    <dgm:pt modelId="{7B31130A-D8F2-494A-A301-3673BFA7D4A2}">
      <dgm:prSet phldrT="[Text]" phldr="0"/>
      <dgm:spPr/>
      <dgm:t>
        <a:bodyPr/>
        <a:lstStyle/>
        <a:p>
          <a:pPr rtl="0"/>
          <a:r>
            <a:rPr lang="en-US" dirty="0" err="1">
              <a:latin typeface="Avenir Next LT Pro"/>
            </a:rPr>
            <a:t>registracija</a:t>
          </a:r>
          <a:r>
            <a:rPr lang="en-US" dirty="0">
              <a:latin typeface="Avenir Next LT Pro"/>
            </a:rPr>
            <a:t> I </a:t>
          </a:r>
          <a:r>
            <a:rPr lang="en-US" dirty="0" err="1">
              <a:latin typeface="Avenir Next LT Pro"/>
            </a:rPr>
            <a:t>prijava</a:t>
          </a:r>
          <a:endParaRPr lang="en-US" dirty="0"/>
        </a:p>
      </dgm:t>
    </dgm:pt>
    <dgm:pt modelId="{497087E6-1E29-4CBF-A7C8-177128F1A54B}" type="parTrans" cxnId="{BA23FE9B-F030-4CD1-9105-20BF07916B93}">
      <dgm:prSet/>
      <dgm:spPr/>
      <dgm:t>
        <a:bodyPr/>
        <a:lstStyle/>
        <a:p>
          <a:endParaRPr lang="en-US"/>
        </a:p>
      </dgm:t>
    </dgm:pt>
    <dgm:pt modelId="{E993D4D1-2C04-4B02-8F70-F864DBDC6F77}" type="sibTrans" cxnId="{BA23FE9B-F030-4CD1-9105-20BF07916B93}">
      <dgm:prSet/>
      <dgm:spPr/>
      <dgm:t>
        <a:bodyPr/>
        <a:lstStyle/>
        <a:p>
          <a:endParaRPr lang="en-US"/>
        </a:p>
      </dgm:t>
    </dgm:pt>
    <dgm:pt modelId="{407BDF29-7DFB-49A9-A93D-4FF00BB29BC9}">
      <dgm:prSet phldrT="[Text]" phldr="0"/>
      <dgm:spPr/>
      <dgm:t>
        <a:bodyPr/>
        <a:lstStyle/>
        <a:p>
          <a:pPr rtl="0"/>
          <a:r>
            <a:rPr lang="en-US" dirty="0" err="1">
              <a:latin typeface="Avenir Next LT Pro"/>
            </a:rPr>
            <a:t>odabir</a:t>
          </a:r>
          <a:r>
            <a:rPr lang="en-US" dirty="0">
              <a:latin typeface="Avenir Next LT Pro"/>
            </a:rPr>
            <a:t> </a:t>
          </a:r>
          <a:r>
            <a:rPr lang="en-US" dirty="0" err="1">
              <a:latin typeface="Avenir Next LT Pro"/>
            </a:rPr>
            <a:t>uloge</a:t>
          </a:r>
          <a:endParaRPr lang="en-US" dirty="0" err="1"/>
        </a:p>
      </dgm:t>
    </dgm:pt>
    <dgm:pt modelId="{3BBAB5DD-40E7-4FD9-890E-B77ECDB478EE}" type="parTrans" cxnId="{5238DBAC-FA70-4D66-B64A-C0E269017F33}">
      <dgm:prSet/>
      <dgm:spPr/>
      <dgm:t>
        <a:bodyPr/>
        <a:lstStyle/>
        <a:p>
          <a:endParaRPr lang="en-US"/>
        </a:p>
      </dgm:t>
    </dgm:pt>
    <dgm:pt modelId="{12704521-5520-4CEF-8351-AFC792A29517}" type="sibTrans" cxnId="{5238DBAC-FA70-4D66-B64A-C0E269017F33}">
      <dgm:prSet/>
      <dgm:spPr/>
      <dgm:t>
        <a:bodyPr/>
        <a:lstStyle/>
        <a:p>
          <a:endParaRPr lang="en-US"/>
        </a:p>
      </dgm:t>
    </dgm:pt>
    <dgm:pt modelId="{45691609-D3FC-426F-B804-AB0C4BB30B04}">
      <dgm:prSet phldrT="[Text]" phldr="0"/>
      <dgm:spPr/>
      <dgm:t>
        <a:bodyPr/>
        <a:lstStyle/>
        <a:p>
          <a:pPr rtl="0"/>
          <a:r>
            <a:rPr lang="en-US" dirty="0">
              <a:latin typeface="Avenir Next LT Pro"/>
            </a:rPr>
            <a:t>KORISNIČKOG ISKUSTVA</a:t>
          </a:r>
          <a:endParaRPr lang="en-US" dirty="0"/>
        </a:p>
      </dgm:t>
    </dgm:pt>
    <dgm:pt modelId="{A9A99059-4C7C-40F4-9B54-D0A8F7D7C57E}" type="parTrans" cxnId="{38EB614A-29A0-4851-83BB-D492F9505B32}">
      <dgm:prSet/>
      <dgm:spPr/>
      <dgm:t>
        <a:bodyPr/>
        <a:lstStyle/>
        <a:p>
          <a:endParaRPr lang="en-US"/>
        </a:p>
      </dgm:t>
    </dgm:pt>
    <dgm:pt modelId="{51749F47-BABA-4BA3-9D33-BF4B10FD1D95}" type="sibTrans" cxnId="{38EB614A-29A0-4851-83BB-D492F9505B32}">
      <dgm:prSet/>
      <dgm:spPr/>
      <dgm:t>
        <a:bodyPr/>
        <a:lstStyle/>
        <a:p>
          <a:endParaRPr lang="en-US"/>
        </a:p>
      </dgm:t>
    </dgm:pt>
    <dgm:pt modelId="{C75EBE3B-2F31-4805-A314-A4EFBCF40706}">
      <dgm:prSet phldrT="[Text]" phldr="0"/>
      <dgm:spPr/>
      <dgm:t>
        <a:bodyPr/>
        <a:lstStyle/>
        <a:p>
          <a:r>
            <a:rPr lang="en-US" dirty="0" err="1">
              <a:latin typeface="Avenir Next LT Pro"/>
            </a:rPr>
            <a:t>dizajn</a:t>
          </a:r>
          <a:endParaRPr lang="en-US" dirty="0"/>
        </a:p>
      </dgm:t>
    </dgm:pt>
    <dgm:pt modelId="{F91DF75D-E22A-4233-9E11-60300A6607BE}" type="parTrans" cxnId="{4660DB5B-3281-472A-B0D4-5D0BD9654FB2}">
      <dgm:prSet/>
      <dgm:spPr/>
      <dgm:t>
        <a:bodyPr/>
        <a:lstStyle/>
        <a:p>
          <a:endParaRPr lang="en-US"/>
        </a:p>
      </dgm:t>
    </dgm:pt>
    <dgm:pt modelId="{B68856C2-69EF-4FF2-9FB3-FF94010D5682}" type="sibTrans" cxnId="{4660DB5B-3281-472A-B0D4-5D0BD9654FB2}">
      <dgm:prSet/>
      <dgm:spPr/>
      <dgm:t>
        <a:bodyPr/>
        <a:lstStyle/>
        <a:p>
          <a:endParaRPr lang="en-US"/>
        </a:p>
      </dgm:t>
    </dgm:pt>
    <dgm:pt modelId="{5AF8525B-08B2-4D0C-B7BC-B556F6C7D890}">
      <dgm:prSet phldrT="[Text]" phldr="0"/>
      <dgm:spPr/>
      <dgm:t>
        <a:bodyPr/>
        <a:lstStyle/>
        <a:p>
          <a:r>
            <a:rPr lang="en-US" dirty="0">
              <a:latin typeface="Avenir Next LT Pro"/>
            </a:rPr>
            <a:t>jednostavnost</a:t>
          </a:r>
          <a:endParaRPr lang="en-US" dirty="0"/>
        </a:p>
      </dgm:t>
    </dgm:pt>
    <dgm:pt modelId="{B15216A8-DA54-44C7-82D4-780080FB9DA6}" type="parTrans" cxnId="{B6C96297-8D75-4E3A-917E-7B58E65DDDC4}">
      <dgm:prSet/>
      <dgm:spPr/>
      <dgm:t>
        <a:bodyPr/>
        <a:lstStyle/>
        <a:p>
          <a:endParaRPr lang="en-US"/>
        </a:p>
      </dgm:t>
    </dgm:pt>
    <dgm:pt modelId="{36B0CF5D-F4EC-49A5-9A15-A525D1654286}" type="sibTrans" cxnId="{B6C96297-8D75-4E3A-917E-7B58E65DDDC4}">
      <dgm:prSet/>
      <dgm:spPr/>
      <dgm:t>
        <a:bodyPr/>
        <a:lstStyle/>
        <a:p>
          <a:endParaRPr lang="en-US"/>
        </a:p>
      </dgm:t>
    </dgm:pt>
    <dgm:pt modelId="{B3BD272A-ED2C-43B7-91E2-B2CFA2F7F6FF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040591CF-3876-432D-BF39-666980B408F3}" type="parTrans" cxnId="{EEA757CE-CB95-4F43-9F0B-D526B4C0252C}">
      <dgm:prSet/>
      <dgm:spPr/>
    </dgm:pt>
    <dgm:pt modelId="{A39ABD91-3B38-44BB-9A2F-D7D19B8122EA}" type="sibTrans" cxnId="{EEA757CE-CB95-4F43-9F0B-D526B4C0252C}">
      <dgm:prSet/>
      <dgm:spPr/>
    </dgm:pt>
    <dgm:pt modelId="{A92D2A20-2D34-409C-A4A6-D520FCBDC3F4}">
      <dgm:prSet phldr="0"/>
      <dgm:spPr/>
      <dgm:t>
        <a:bodyPr/>
        <a:lstStyle/>
        <a:p>
          <a:pPr rtl="0"/>
          <a:r>
            <a:rPr lang="en-US" sz="2200" dirty="0" err="1">
              <a:latin typeface="Avenir Next LT Pro"/>
            </a:rPr>
            <a:t>osnovne</a:t>
          </a:r>
          <a:r>
            <a:rPr lang="en-US" sz="2200" dirty="0">
              <a:latin typeface="Avenir Next LT Pro"/>
            </a:rPr>
            <a:t> </a:t>
          </a:r>
          <a:r>
            <a:rPr lang="en-US" sz="2200" dirty="0" err="1">
              <a:latin typeface="Avenir Next LT Pro"/>
            </a:rPr>
            <a:t>komponente</a:t>
          </a:r>
          <a:r>
            <a:rPr lang="en-US" sz="2200" dirty="0">
              <a:latin typeface="Avenir Next LT Pro"/>
            </a:rPr>
            <a:t>:</a:t>
          </a:r>
          <a:endParaRPr lang="en-US" sz="1800" dirty="0"/>
        </a:p>
      </dgm:t>
    </dgm:pt>
    <dgm:pt modelId="{F28E27BA-0671-476C-BE8A-FFAD7896E432}" type="parTrans" cxnId="{F8316403-C9FF-4212-80B7-8680DE09FA32}">
      <dgm:prSet/>
      <dgm:spPr/>
    </dgm:pt>
    <dgm:pt modelId="{0B10E901-B195-4DA8-B7D9-B9DDFC7E1762}" type="sibTrans" cxnId="{F8316403-C9FF-4212-80B7-8680DE09FA32}">
      <dgm:prSet/>
      <dgm:spPr/>
    </dgm:pt>
    <dgm:pt modelId="{D6A49F79-1896-458E-B785-397772412A10}">
      <dgm:prSet phldr="0"/>
      <dgm:spPr/>
      <dgm:t>
        <a:bodyPr/>
        <a:lstStyle/>
        <a:p>
          <a:pPr rtl="0"/>
          <a:r>
            <a:rPr lang="en-US" sz="1400" dirty="0">
              <a:latin typeface="Avenir Next LT Pro"/>
            </a:rPr>
            <a:t>autentikacija</a:t>
          </a:r>
        </a:p>
      </dgm:t>
    </dgm:pt>
    <dgm:pt modelId="{DC5A3FB1-5146-4D1F-A09A-57FAF2F45A86}" type="parTrans" cxnId="{B0EC3CF0-50A0-4A56-97DB-3E5C60E5CBA7}">
      <dgm:prSet/>
      <dgm:spPr/>
    </dgm:pt>
    <dgm:pt modelId="{8BE8A9A1-3F85-4E57-9BA6-45B332B27510}" type="sibTrans" cxnId="{B0EC3CF0-50A0-4A56-97DB-3E5C60E5CBA7}">
      <dgm:prSet/>
      <dgm:spPr/>
    </dgm:pt>
    <dgm:pt modelId="{5F00E764-BFEE-4481-81CA-BC61CA32E665}">
      <dgm:prSet phldr="0"/>
      <dgm:spPr/>
      <dgm:t>
        <a:bodyPr/>
        <a:lstStyle/>
        <a:p>
          <a:pPr rtl="0"/>
          <a:r>
            <a:rPr lang="en-US" dirty="0">
              <a:latin typeface="Avenir Next LT Pro"/>
            </a:rPr>
            <a:t>pregled radionica</a:t>
          </a:r>
        </a:p>
      </dgm:t>
    </dgm:pt>
    <dgm:pt modelId="{EC1608A9-39F0-4E75-9DB0-FC519FCD6F6A}" type="parTrans" cxnId="{094E7654-05EE-40C2-8B17-F48A761BA72A}">
      <dgm:prSet/>
      <dgm:spPr/>
    </dgm:pt>
    <dgm:pt modelId="{026A54CB-0E84-494E-992A-2D2ADAFC21DA}" type="sibTrans" cxnId="{094E7654-05EE-40C2-8B17-F48A761BA72A}">
      <dgm:prSet/>
      <dgm:spPr/>
    </dgm:pt>
    <dgm:pt modelId="{37FF7F9A-B111-4DCB-B9E0-CBC782CDD47B}">
      <dgm:prSet phldr="0"/>
      <dgm:spPr/>
      <dgm:t>
        <a:bodyPr/>
        <a:lstStyle/>
        <a:p>
          <a:pPr rtl="0"/>
          <a:r>
            <a:rPr lang="en-US" dirty="0" err="1">
              <a:latin typeface="Avenir Next LT Pro"/>
            </a:rPr>
            <a:t>intuitivnost</a:t>
          </a:r>
        </a:p>
      </dgm:t>
    </dgm:pt>
    <dgm:pt modelId="{254E3AB8-B7AE-40AD-98B5-38DA385D5067}" type="parTrans" cxnId="{BA7A6ECB-1206-4E3E-BF17-6D4B2049FF8B}">
      <dgm:prSet/>
      <dgm:spPr/>
    </dgm:pt>
    <dgm:pt modelId="{5A50B262-B560-400A-9943-6DF06E39CDE9}" type="sibTrans" cxnId="{BA7A6ECB-1206-4E3E-BF17-6D4B2049FF8B}">
      <dgm:prSet/>
      <dgm:spPr/>
    </dgm:pt>
    <dgm:pt modelId="{0B8A2BA3-E532-4744-A155-C69219890BCE}" type="pres">
      <dgm:prSet presAssocID="{0BC5F1BE-DF29-4B35-AD93-BCEFAE8832B2}" presName="Name0" presStyleCnt="0">
        <dgm:presLayoutVars>
          <dgm:dir/>
          <dgm:animLvl val="lvl"/>
          <dgm:resizeHandles val="exact"/>
        </dgm:presLayoutVars>
      </dgm:prSet>
      <dgm:spPr/>
    </dgm:pt>
    <dgm:pt modelId="{0115F79D-E65F-44E6-B026-C1946E9EEAD2}" type="pres">
      <dgm:prSet presAssocID="{CD5104ED-570A-4E34-B5AE-29A50A603E17}" presName="composite" presStyleCnt="0"/>
      <dgm:spPr/>
    </dgm:pt>
    <dgm:pt modelId="{7C328D27-EE2B-4834-AF52-0EC8595E7D94}" type="pres">
      <dgm:prSet presAssocID="{CD5104ED-570A-4E34-B5AE-29A50A603E1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FD71C99-816D-41E8-89F1-5EA0BE14D537}" type="pres">
      <dgm:prSet presAssocID="{CD5104ED-570A-4E34-B5AE-29A50A603E17}" presName="desTx" presStyleLbl="alignAccFollowNode1" presStyleIdx="0" presStyleCnt="3">
        <dgm:presLayoutVars>
          <dgm:bulletEnabled val="1"/>
        </dgm:presLayoutVars>
      </dgm:prSet>
      <dgm:spPr/>
    </dgm:pt>
    <dgm:pt modelId="{DB24E635-B18D-4CC8-ACEA-EE9F2BCC16BC}" type="pres">
      <dgm:prSet presAssocID="{B19FEAA4-AF11-4C6D-84A7-BE36E2F39EBB}" presName="space" presStyleCnt="0"/>
      <dgm:spPr/>
    </dgm:pt>
    <dgm:pt modelId="{49520000-EFC3-4769-910F-4659544D319E}" type="pres">
      <dgm:prSet presAssocID="{7FFC4C7B-5BEF-438E-BB02-D7B1C53B7770}" presName="composite" presStyleCnt="0"/>
      <dgm:spPr/>
    </dgm:pt>
    <dgm:pt modelId="{CCDB0DD9-6DD4-483C-AB33-76F6D1B3E631}" type="pres">
      <dgm:prSet presAssocID="{7FFC4C7B-5BEF-438E-BB02-D7B1C53B77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9C222AF-367F-499D-A8A0-825452ECC4F8}" type="pres">
      <dgm:prSet presAssocID="{7FFC4C7B-5BEF-438E-BB02-D7B1C53B7770}" presName="desTx" presStyleLbl="alignAccFollowNode1" presStyleIdx="1" presStyleCnt="3">
        <dgm:presLayoutVars>
          <dgm:bulletEnabled val="1"/>
        </dgm:presLayoutVars>
      </dgm:prSet>
      <dgm:spPr/>
    </dgm:pt>
    <dgm:pt modelId="{FD642E01-3690-4157-9F78-7B84B985CA30}" type="pres">
      <dgm:prSet presAssocID="{41259681-45B9-4127-985F-FFA5940973FE}" presName="space" presStyleCnt="0"/>
      <dgm:spPr/>
    </dgm:pt>
    <dgm:pt modelId="{B4AD731E-1A22-444B-A92B-CC9C41C4C305}" type="pres">
      <dgm:prSet presAssocID="{45691609-D3FC-426F-B804-AB0C4BB30B04}" presName="composite" presStyleCnt="0"/>
      <dgm:spPr/>
    </dgm:pt>
    <dgm:pt modelId="{F1F21CDF-DBE7-41E9-91D6-85707C633A97}" type="pres">
      <dgm:prSet presAssocID="{45691609-D3FC-426F-B804-AB0C4BB30B0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16C6637-5B03-464E-964C-C3F8C191724A}" type="pres">
      <dgm:prSet presAssocID="{45691609-D3FC-426F-B804-AB0C4BB30B0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8316403-C9FF-4212-80B7-8680DE09FA32}" srcId="{CD5104ED-570A-4E34-B5AE-29A50A603E17}" destId="{A92D2A20-2D34-409C-A4A6-D520FCBDC3F4}" srcOrd="0" destOrd="0" parTransId="{F28E27BA-0671-476C-BE8A-FFAD7896E432}" sibTransId="{0B10E901-B195-4DA8-B7D9-B9DDFC7E1762}"/>
    <dgm:cxn modelId="{E6E48110-0785-44E6-BE66-A3D337D91823}" type="presOf" srcId="{7FFC4C7B-5BEF-438E-BB02-D7B1C53B7770}" destId="{CCDB0DD9-6DD4-483C-AB33-76F6D1B3E631}" srcOrd="0" destOrd="0" presId="urn:microsoft.com/office/officeart/2005/8/layout/hList1"/>
    <dgm:cxn modelId="{4660DB5B-3281-472A-B0D4-5D0BD9654FB2}" srcId="{45691609-D3FC-426F-B804-AB0C4BB30B04}" destId="{C75EBE3B-2F31-4805-A314-A4EFBCF40706}" srcOrd="0" destOrd="0" parTransId="{F91DF75D-E22A-4233-9E11-60300A6607BE}" sibTransId="{B68856C2-69EF-4FF2-9FB3-FF94010D5682}"/>
    <dgm:cxn modelId="{95867D5E-E286-4BCF-A836-D62FAE3A9B01}" srcId="{CD5104ED-570A-4E34-B5AE-29A50A603E17}" destId="{C8C730CC-F0B6-432D-9532-AFF66AB7A4F3}" srcOrd="2" destOrd="0" parTransId="{9CE0F41B-3FEA-4A3A-A947-5D2340B70DA1}" sibTransId="{81AF0F20-B130-48C2-AF4C-4B35A61A1FC0}"/>
    <dgm:cxn modelId="{C8DAA763-FBBA-44FE-8F95-5947EEA3BAB3}" type="presOf" srcId="{0BC5F1BE-DF29-4B35-AD93-BCEFAE8832B2}" destId="{0B8A2BA3-E532-4744-A155-C69219890BCE}" srcOrd="0" destOrd="0" presId="urn:microsoft.com/office/officeart/2005/8/layout/hList1"/>
    <dgm:cxn modelId="{EC234E44-3C49-4E08-A8BD-BDE99AED58F9}" type="presOf" srcId="{C75EBE3B-2F31-4805-A314-A4EFBCF40706}" destId="{816C6637-5B03-464E-964C-C3F8C191724A}" srcOrd="0" destOrd="0" presId="urn:microsoft.com/office/officeart/2005/8/layout/hList1"/>
    <dgm:cxn modelId="{956D5768-498E-4595-93C5-BD3BED8C8778}" type="presOf" srcId="{D6A49F79-1896-458E-B785-397772412A10}" destId="{CFD71C99-816D-41E8-89F1-5EA0BE14D537}" srcOrd="0" destOrd="1" presId="urn:microsoft.com/office/officeart/2005/8/layout/hList1"/>
    <dgm:cxn modelId="{38EB614A-29A0-4851-83BB-D492F9505B32}" srcId="{0BC5F1BE-DF29-4B35-AD93-BCEFAE8832B2}" destId="{45691609-D3FC-426F-B804-AB0C4BB30B04}" srcOrd="2" destOrd="0" parTransId="{A9A99059-4C7C-40F4-9B54-D0A8F7D7C57E}" sibTransId="{51749F47-BABA-4BA3-9D33-BF4B10FD1D95}"/>
    <dgm:cxn modelId="{6CC9C86B-9C1C-4F12-A73F-7FDC8D0147DE}" srcId="{0BC5F1BE-DF29-4B35-AD93-BCEFAE8832B2}" destId="{CD5104ED-570A-4E34-B5AE-29A50A603E17}" srcOrd="0" destOrd="0" parTransId="{C1C63658-D87B-4E79-99F4-19D3C3608894}" sibTransId="{B19FEAA4-AF11-4C6D-84A7-BE36E2F39EBB}"/>
    <dgm:cxn modelId="{78DD056C-6CA1-4BC8-8B55-9C48A1E7182E}" type="presOf" srcId="{CD5104ED-570A-4E34-B5AE-29A50A603E17}" destId="{7C328D27-EE2B-4834-AF52-0EC8595E7D94}" srcOrd="0" destOrd="0" presId="urn:microsoft.com/office/officeart/2005/8/layout/hList1"/>
    <dgm:cxn modelId="{094E7654-05EE-40C2-8B17-F48A761BA72A}" srcId="{7FFC4C7B-5BEF-438E-BB02-D7B1C53B7770}" destId="{5F00E764-BFEE-4481-81CA-BC61CA32E665}" srcOrd="2" destOrd="0" parTransId="{EC1608A9-39F0-4E75-9DB0-FC519FCD6F6A}" sibTransId="{026A54CB-0E84-494E-992A-2D2ADAFC21DA}"/>
    <dgm:cxn modelId="{E1861E7B-D06A-498C-95C6-51D117AA0E5A}" type="presOf" srcId="{45691609-D3FC-426F-B804-AB0C4BB30B04}" destId="{F1F21CDF-DBE7-41E9-91D6-85707C633A97}" srcOrd="0" destOrd="0" presId="urn:microsoft.com/office/officeart/2005/8/layout/hList1"/>
    <dgm:cxn modelId="{2BC1837B-8182-4675-B83B-917B88E7B906}" type="presOf" srcId="{A92D2A20-2D34-409C-A4A6-D520FCBDC3F4}" destId="{CFD71C99-816D-41E8-89F1-5EA0BE14D537}" srcOrd="0" destOrd="0" presId="urn:microsoft.com/office/officeart/2005/8/layout/hList1"/>
    <dgm:cxn modelId="{B6C96297-8D75-4E3A-917E-7B58E65DDDC4}" srcId="{45691609-D3FC-426F-B804-AB0C4BB30B04}" destId="{5AF8525B-08B2-4D0C-B7BC-B556F6C7D890}" srcOrd="2" destOrd="0" parTransId="{B15216A8-DA54-44C7-82D4-780080FB9DA6}" sibTransId="{36B0CF5D-F4EC-49A5-9A15-A525D1654286}"/>
    <dgm:cxn modelId="{BA23FE9B-F030-4CD1-9105-20BF07916B93}" srcId="{7FFC4C7B-5BEF-438E-BB02-D7B1C53B7770}" destId="{7B31130A-D8F2-494A-A301-3673BFA7D4A2}" srcOrd="0" destOrd="0" parTransId="{497087E6-1E29-4CBF-A7C8-177128F1A54B}" sibTransId="{E993D4D1-2C04-4B02-8F70-F864DBDC6F77}"/>
    <dgm:cxn modelId="{1CF6E6A9-3E5D-4D1E-8877-A37D46AC7006}" srcId="{0BC5F1BE-DF29-4B35-AD93-BCEFAE8832B2}" destId="{7FFC4C7B-5BEF-438E-BB02-D7B1C53B7770}" srcOrd="1" destOrd="0" parTransId="{0A1714D0-36C9-4592-B6EC-306C60293BFA}" sibTransId="{41259681-45B9-4127-985F-FFA5940973FE}"/>
    <dgm:cxn modelId="{5238DBAC-FA70-4D66-B64A-C0E269017F33}" srcId="{7FFC4C7B-5BEF-438E-BB02-D7B1C53B7770}" destId="{407BDF29-7DFB-49A9-A93D-4FF00BB29BC9}" srcOrd="1" destOrd="0" parTransId="{3BBAB5DD-40E7-4FD9-890E-B77ECDB478EE}" sibTransId="{12704521-5520-4CEF-8351-AFC792A29517}"/>
    <dgm:cxn modelId="{8009CDAD-FCA8-4AF0-959C-16680D700D03}" type="presOf" srcId="{407BDF29-7DFB-49A9-A93D-4FF00BB29BC9}" destId="{09C222AF-367F-499D-A8A0-825452ECC4F8}" srcOrd="0" destOrd="1" presId="urn:microsoft.com/office/officeart/2005/8/layout/hList1"/>
    <dgm:cxn modelId="{38ACF8B3-81F0-4E22-AAA0-B2D84F192391}" type="presOf" srcId="{37FF7F9A-B111-4DCB-B9E0-CBC782CDD47B}" destId="{816C6637-5B03-464E-964C-C3F8C191724A}" srcOrd="0" destOrd="1" presId="urn:microsoft.com/office/officeart/2005/8/layout/hList1"/>
    <dgm:cxn modelId="{004304C6-5ACC-4386-B20B-2E89C51710EB}" type="presOf" srcId="{5F00E764-BFEE-4481-81CA-BC61CA32E665}" destId="{09C222AF-367F-499D-A8A0-825452ECC4F8}" srcOrd="0" destOrd="2" presId="urn:microsoft.com/office/officeart/2005/8/layout/hList1"/>
    <dgm:cxn modelId="{BA7A6ECB-1206-4E3E-BF17-6D4B2049FF8B}" srcId="{45691609-D3FC-426F-B804-AB0C4BB30B04}" destId="{37FF7F9A-B111-4DCB-B9E0-CBC782CDD47B}" srcOrd="1" destOrd="0" parTransId="{254E3AB8-B7AE-40AD-98B5-38DA385D5067}" sibTransId="{5A50B262-B560-400A-9943-6DF06E39CDE9}"/>
    <dgm:cxn modelId="{EEA757CE-CB95-4F43-9F0B-D526B4C0252C}" srcId="{CD5104ED-570A-4E34-B5AE-29A50A603E17}" destId="{B3BD272A-ED2C-43B7-91E2-B2CFA2F7F6FF}" srcOrd="3" destOrd="0" parTransId="{040591CF-3876-432D-BF39-666980B408F3}" sibTransId="{A39ABD91-3B38-44BB-9A2F-D7D19B8122EA}"/>
    <dgm:cxn modelId="{54A974E1-4379-42BC-835C-56C478F13D25}" type="presOf" srcId="{7B31130A-D8F2-494A-A301-3673BFA7D4A2}" destId="{09C222AF-367F-499D-A8A0-825452ECC4F8}" srcOrd="0" destOrd="0" presId="urn:microsoft.com/office/officeart/2005/8/layout/hList1"/>
    <dgm:cxn modelId="{71C136EE-B395-4A48-BCC2-F201CAD279B6}" type="presOf" srcId="{B3BD272A-ED2C-43B7-91E2-B2CFA2F7F6FF}" destId="{CFD71C99-816D-41E8-89F1-5EA0BE14D537}" srcOrd="0" destOrd="3" presId="urn:microsoft.com/office/officeart/2005/8/layout/hList1"/>
    <dgm:cxn modelId="{B0EC3CF0-50A0-4A56-97DB-3E5C60E5CBA7}" srcId="{CD5104ED-570A-4E34-B5AE-29A50A603E17}" destId="{D6A49F79-1896-458E-B785-397772412A10}" srcOrd="1" destOrd="0" parTransId="{DC5A3FB1-5146-4D1F-A09A-57FAF2F45A86}" sibTransId="{8BE8A9A1-3F85-4E57-9BA6-45B332B27510}"/>
    <dgm:cxn modelId="{598D6AF7-AFFD-4F26-9864-CAF8898B9871}" type="presOf" srcId="{C8C730CC-F0B6-432D-9532-AFF66AB7A4F3}" destId="{CFD71C99-816D-41E8-89F1-5EA0BE14D537}" srcOrd="0" destOrd="2" presId="urn:microsoft.com/office/officeart/2005/8/layout/hList1"/>
    <dgm:cxn modelId="{DE8096F8-7AAB-4A3B-85D8-64AD89195311}" type="presOf" srcId="{5AF8525B-08B2-4D0C-B7BC-B556F6C7D890}" destId="{816C6637-5B03-464E-964C-C3F8C191724A}" srcOrd="0" destOrd="2" presId="urn:microsoft.com/office/officeart/2005/8/layout/hList1"/>
    <dgm:cxn modelId="{B907269D-7BB2-4773-9258-69ABED1C0BBC}" type="presParOf" srcId="{0B8A2BA3-E532-4744-A155-C69219890BCE}" destId="{0115F79D-E65F-44E6-B026-C1946E9EEAD2}" srcOrd="0" destOrd="0" presId="urn:microsoft.com/office/officeart/2005/8/layout/hList1"/>
    <dgm:cxn modelId="{B760AD0C-B4D7-40AB-A020-C25D1038D497}" type="presParOf" srcId="{0115F79D-E65F-44E6-B026-C1946E9EEAD2}" destId="{7C328D27-EE2B-4834-AF52-0EC8595E7D94}" srcOrd="0" destOrd="0" presId="urn:microsoft.com/office/officeart/2005/8/layout/hList1"/>
    <dgm:cxn modelId="{8C29A734-7CEA-4D3C-A005-666FD7EEC78D}" type="presParOf" srcId="{0115F79D-E65F-44E6-B026-C1946E9EEAD2}" destId="{CFD71C99-816D-41E8-89F1-5EA0BE14D537}" srcOrd="1" destOrd="0" presId="urn:microsoft.com/office/officeart/2005/8/layout/hList1"/>
    <dgm:cxn modelId="{BC45FF6E-47D3-42FF-9774-BD28523CA7F2}" type="presParOf" srcId="{0B8A2BA3-E532-4744-A155-C69219890BCE}" destId="{DB24E635-B18D-4CC8-ACEA-EE9F2BCC16BC}" srcOrd="1" destOrd="0" presId="urn:microsoft.com/office/officeart/2005/8/layout/hList1"/>
    <dgm:cxn modelId="{10E4F1FD-16AF-4A21-A462-5AA84BF6BE26}" type="presParOf" srcId="{0B8A2BA3-E532-4744-A155-C69219890BCE}" destId="{49520000-EFC3-4769-910F-4659544D319E}" srcOrd="2" destOrd="0" presId="urn:microsoft.com/office/officeart/2005/8/layout/hList1"/>
    <dgm:cxn modelId="{5EE851BD-9283-4C22-A907-2EE6C45C8434}" type="presParOf" srcId="{49520000-EFC3-4769-910F-4659544D319E}" destId="{CCDB0DD9-6DD4-483C-AB33-76F6D1B3E631}" srcOrd="0" destOrd="0" presId="urn:microsoft.com/office/officeart/2005/8/layout/hList1"/>
    <dgm:cxn modelId="{1A1D3C9E-1D3F-4E97-AF73-C0E557485694}" type="presParOf" srcId="{49520000-EFC3-4769-910F-4659544D319E}" destId="{09C222AF-367F-499D-A8A0-825452ECC4F8}" srcOrd="1" destOrd="0" presId="urn:microsoft.com/office/officeart/2005/8/layout/hList1"/>
    <dgm:cxn modelId="{F1EB8F5E-6EA7-486A-91BF-5C6B86C97FFF}" type="presParOf" srcId="{0B8A2BA3-E532-4744-A155-C69219890BCE}" destId="{FD642E01-3690-4157-9F78-7B84B985CA30}" srcOrd="3" destOrd="0" presId="urn:microsoft.com/office/officeart/2005/8/layout/hList1"/>
    <dgm:cxn modelId="{8FF3F327-7488-46BB-A9A1-9C048B355346}" type="presParOf" srcId="{0B8A2BA3-E532-4744-A155-C69219890BCE}" destId="{B4AD731E-1A22-444B-A92B-CC9C41C4C305}" srcOrd="4" destOrd="0" presId="urn:microsoft.com/office/officeart/2005/8/layout/hList1"/>
    <dgm:cxn modelId="{D823B956-2B6F-46B8-85A9-D222C9F56642}" type="presParOf" srcId="{B4AD731E-1A22-444B-A92B-CC9C41C4C305}" destId="{F1F21CDF-DBE7-41E9-91D6-85707C633A97}" srcOrd="0" destOrd="0" presId="urn:microsoft.com/office/officeart/2005/8/layout/hList1"/>
    <dgm:cxn modelId="{7384F6C8-8B28-43DE-86CA-88D1E9A84450}" type="presParOf" srcId="{B4AD731E-1A22-444B-A92B-CC9C41C4C305}" destId="{816C6637-5B03-464E-964C-C3F8C191724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328D27-EE2B-4834-AF52-0EC8595E7D94}">
      <dsp:nvSpPr>
        <dsp:cNvPr id="0" name=""/>
        <dsp:cNvSpPr/>
      </dsp:nvSpPr>
      <dsp:spPr>
        <a:xfrm>
          <a:off x="2207" y="1422733"/>
          <a:ext cx="2152295" cy="7184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venir Next LT Pro"/>
            </a:rPr>
            <a:t> KOMPONENTI</a:t>
          </a:r>
        </a:p>
      </dsp:txBody>
      <dsp:txXfrm>
        <a:off x="2207" y="1422733"/>
        <a:ext cx="2152295" cy="718459"/>
      </dsp:txXfrm>
    </dsp:sp>
    <dsp:sp modelId="{CFD71C99-816D-41E8-89F1-5EA0BE14D537}">
      <dsp:nvSpPr>
        <dsp:cNvPr id="0" name=""/>
        <dsp:cNvSpPr/>
      </dsp:nvSpPr>
      <dsp:spPr>
        <a:xfrm>
          <a:off x="2207" y="2141193"/>
          <a:ext cx="2152295" cy="2086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Avenir Next LT Pro"/>
            </a:rPr>
            <a:t>osnovne</a:t>
          </a:r>
          <a:r>
            <a:rPr lang="en-US" sz="2000" kern="1200" dirty="0">
              <a:latin typeface="Avenir Next LT Pro"/>
            </a:rPr>
            <a:t> </a:t>
          </a:r>
          <a:r>
            <a:rPr lang="en-US" sz="2000" kern="1200" dirty="0" err="1">
              <a:latin typeface="Avenir Next LT Pro"/>
            </a:rPr>
            <a:t>komponente</a:t>
          </a:r>
          <a:r>
            <a:rPr lang="en-US" sz="2000" kern="1200" dirty="0">
              <a:latin typeface="Avenir Next LT Pro"/>
            </a:rPr>
            <a:t>:</a:t>
          </a:r>
          <a:endParaRPr lang="en-US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venir Next LT Pro"/>
            </a:rPr>
            <a:t>autentikacija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venir Next LT Pro"/>
            </a:rPr>
            <a:t>fetch wrapperi</a:t>
          </a:r>
          <a:endParaRPr lang="en-US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>
            <a:latin typeface="Avenir Next LT Pro"/>
          </a:endParaRPr>
        </a:p>
      </dsp:txBody>
      <dsp:txXfrm>
        <a:off x="2207" y="2141193"/>
        <a:ext cx="2152295" cy="2086199"/>
      </dsp:txXfrm>
    </dsp:sp>
    <dsp:sp modelId="{CCDB0DD9-6DD4-483C-AB33-76F6D1B3E631}">
      <dsp:nvSpPr>
        <dsp:cNvPr id="0" name=""/>
        <dsp:cNvSpPr/>
      </dsp:nvSpPr>
      <dsp:spPr>
        <a:xfrm>
          <a:off x="2455824" y="1422733"/>
          <a:ext cx="2152295" cy="7184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venir Next LT Pro"/>
            </a:rPr>
            <a:t>SUSTAVA</a:t>
          </a:r>
          <a:endParaRPr lang="en-US" sz="2000" kern="1200" dirty="0"/>
        </a:p>
      </dsp:txBody>
      <dsp:txXfrm>
        <a:off x="2455824" y="1422733"/>
        <a:ext cx="2152295" cy="718459"/>
      </dsp:txXfrm>
    </dsp:sp>
    <dsp:sp modelId="{09C222AF-367F-499D-A8A0-825452ECC4F8}">
      <dsp:nvSpPr>
        <dsp:cNvPr id="0" name=""/>
        <dsp:cNvSpPr/>
      </dsp:nvSpPr>
      <dsp:spPr>
        <a:xfrm>
          <a:off x="2455824" y="2141193"/>
          <a:ext cx="2152295" cy="2086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Avenir Next LT Pro"/>
            </a:rPr>
            <a:t>registracija</a:t>
          </a:r>
          <a:r>
            <a:rPr lang="en-US" sz="2000" kern="1200" dirty="0">
              <a:latin typeface="Avenir Next LT Pro"/>
            </a:rPr>
            <a:t> I </a:t>
          </a:r>
          <a:r>
            <a:rPr lang="en-US" sz="2000" kern="1200" dirty="0" err="1">
              <a:latin typeface="Avenir Next LT Pro"/>
            </a:rPr>
            <a:t>prijava</a:t>
          </a:r>
          <a:endParaRPr lang="en-US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Avenir Next LT Pro"/>
            </a:rPr>
            <a:t>odabir</a:t>
          </a:r>
          <a:r>
            <a:rPr lang="en-US" sz="2000" kern="1200" dirty="0">
              <a:latin typeface="Avenir Next LT Pro"/>
            </a:rPr>
            <a:t> </a:t>
          </a:r>
          <a:r>
            <a:rPr lang="en-US" sz="2000" kern="1200" dirty="0" err="1">
              <a:latin typeface="Avenir Next LT Pro"/>
            </a:rPr>
            <a:t>uloge</a:t>
          </a:r>
          <a:endParaRPr lang="en-US" sz="2000" kern="1200" dirty="0" err="1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venir Next LT Pro"/>
            </a:rPr>
            <a:t>pregled radionica</a:t>
          </a:r>
        </a:p>
      </dsp:txBody>
      <dsp:txXfrm>
        <a:off x="2455824" y="2141193"/>
        <a:ext cx="2152295" cy="2086199"/>
      </dsp:txXfrm>
    </dsp:sp>
    <dsp:sp modelId="{F1F21CDF-DBE7-41E9-91D6-85707C633A97}">
      <dsp:nvSpPr>
        <dsp:cNvPr id="0" name=""/>
        <dsp:cNvSpPr/>
      </dsp:nvSpPr>
      <dsp:spPr>
        <a:xfrm>
          <a:off x="4909441" y="1422733"/>
          <a:ext cx="2152295" cy="7184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venir Next LT Pro"/>
            </a:rPr>
            <a:t>KORISNIČKOG ISKUSTVA</a:t>
          </a:r>
          <a:endParaRPr lang="en-US" sz="2000" kern="1200" dirty="0"/>
        </a:p>
      </dsp:txBody>
      <dsp:txXfrm>
        <a:off x="4909441" y="1422733"/>
        <a:ext cx="2152295" cy="718459"/>
      </dsp:txXfrm>
    </dsp:sp>
    <dsp:sp modelId="{816C6637-5B03-464E-964C-C3F8C191724A}">
      <dsp:nvSpPr>
        <dsp:cNvPr id="0" name=""/>
        <dsp:cNvSpPr/>
      </dsp:nvSpPr>
      <dsp:spPr>
        <a:xfrm>
          <a:off x="4909441" y="2141193"/>
          <a:ext cx="2152295" cy="2086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Avenir Next LT Pro"/>
            </a:rPr>
            <a:t>dizajn</a:t>
          </a:r>
          <a:endParaRPr lang="en-US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Avenir Next LT Pro"/>
            </a:rPr>
            <a:t>intuitivnost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venir Next LT Pro"/>
            </a:rPr>
            <a:t>jednostavnost</a:t>
          </a:r>
          <a:endParaRPr lang="en-US" sz="2000" kern="1200" dirty="0"/>
        </a:p>
      </dsp:txBody>
      <dsp:txXfrm>
        <a:off x="4909441" y="2141193"/>
        <a:ext cx="2152295" cy="2086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4129-DAB4-D4E2-0C7B-4A504D4A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A85CA-DF8C-B581-2DB8-36BDE9277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2BF59-5192-F2A1-722C-D023369A2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00C27-25B5-0BC8-D220-EBE595E05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895658-EA1F-4910-80AB-4DA76E1674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959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77647-F3EF-E3F5-F53D-97685D61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486EC-AC82-2B29-973F-920788714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732C4-1A37-338F-2746-E44BAF933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6E74A-921E-4274-FC0B-A15D66270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53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4B1A-7BF3-D29A-073C-59E5902D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FED73-3277-8B8A-C5E0-F65513547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A4602-A653-BDC1-5E10-F7E0401D2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658E5-328B-7EDF-B273-6DF3E2760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86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ADA7A-D9E0-D2C3-1C26-D43253F2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87E39-11BC-40AF-F045-A3D81F965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0A96A-D406-5008-B4CD-1344724E2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E5247-8B19-B441-469E-ECA50F6EF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8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hr-HR"/>
              <a:t>ClayPlay</a:t>
            </a:r>
            <a:br>
              <a:rPr lang="hr-HR"/>
            </a:br>
            <a:r>
              <a:rPr lang="hr-HR" sz="4000"/>
              <a:t>DevNopes</a:t>
            </a:r>
            <a:br>
              <a:rPr lang="hr-HR" sz="4000"/>
            </a:br>
            <a:br>
              <a:rPr lang="hr-HR" sz="4000"/>
            </a:br>
            <a:r>
              <a:rPr lang="hr-HR" sz="3200"/>
              <a:t>Prezentacija projekta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AC823-70A5-1238-9696-886B69B23A2D}"/>
              </a:ext>
            </a:extLst>
          </p:cNvPr>
          <p:cNvSpPr txBox="1"/>
          <p:nvPr/>
        </p:nvSpPr>
        <p:spPr>
          <a:xfrm>
            <a:off x="6665976" y="5533751"/>
            <a:ext cx="5285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b="1">
                <a:solidFill>
                  <a:schemeClr val="tx2"/>
                </a:solidFill>
              </a:rPr>
              <a:t>Tim</a:t>
            </a:r>
            <a:r>
              <a:rPr lang="en-GB" sz="2400" b="1">
                <a:solidFill>
                  <a:schemeClr val="tx2"/>
                </a:solidFill>
              </a:rPr>
              <a:t>: TG 15.3</a:t>
            </a:r>
          </a:p>
          <a:p>
            <a:r>
              <a:rPr lang="en-GB" sz="2400" b="1" err="1">
                <a:solidFill>
                  <a:schemeClr val="tx2"/>
                </a:solidFill>
              </a:rPr>
              <a:t>Akademska</a:t>
            </a:r>
            <a:r>
              <a:rPr lang="en-GB" sz="2400" b="1">
                <a:solidFill>
                  <a:schemeClr val="tx2"/>
                </a:solidFill>
              </a:rPr>
              <a:t> </a:t>
            </a:r>
            <a:r>
              <a:rPr lang="en-GB" sz="2400" b="1" err="1">
                <a:solidFill>
                  <a:schemeClr val="tx2"/>
                </a:solidFill>
              </a:rPr>
              <a:t>godina</a:t>
            </a:r>
            <a:r>
              <a:rPr lang="en-GB" sz="2400" b="1">
                <a:solidFill>
                  <a:schemeClr val="tx2"/>
                </a:solidFill>
              </a:rPr>
              <a:t>: 2025. / 2026. </a:t>
            </a:r>
            <a:endParaRPr lang="en-US" sz="24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7" y="429337"/>
            <a:ext cx="6343650" cy="1004964"/>
          </a:xfrm>
        </p:spPr>
        <p:txBody>
          <a:bodyPr>
            <a:normAutofit/>
          </a:bodyPr>
          <a:lstStyle/>
          <a:p>
            <a:r>
              <a:rPr lang="en-ZA"/>
              <a:t>Sadr</a:t>
            </a:r>
            <a:r>
              <a:rPr lang="hr-HR"/>
              <a:t>žaj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1434301"/>
            <a:ext cx="2772727" cy="4534699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/>
              <a:t>Opis zadatka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/>
              <a:t>Pregled zahtjeva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/>
              <a:t>Korišteni alati i tehnologije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/>
              <a:t>Arhitektura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/>
              <a:t>Organizacija rada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/>
              <a:t>Iskustva</a:t>
            </a: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2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FA095-DA10-9CDA-2290-D185A19F054D}"/>
              </a:ext>
            </a:extLst>
          </p:cNvPr>
          <p:cNvSpPr txBox="1"/>
          <p:nvPr/>
        </p:nvSpPr>
        <p:spPr>
          <a:xfrm>
            <a:off x="8472760" y="1434301"/>
            <a:ext cx="309948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200"/>
              <a:t>Članovi tima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200"/>
              <a:t>Cilj projekta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200"/>
              <a:t>Analiza i oblikovanje sustava	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sz="2200"/>
              <a:t>Zahtjevi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sz="2200"/>
              <a:t>Arhitektura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200"/>
              <a:t>Organizacija rada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200"/>
              <a:t>Iskustva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1029586"/>
          </a:xfrm>
        </p:spPr>
        <p:txBody>
          <a:bodyPr>
            <a:normAutofit/>
          </a:bodyPr>
          <a:lstStyle/>
          <a:p>
            <a:r>
              <a:rPr lang="hr-HR"/>
              <a:t>Članovi grupe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3</a:t>
            </a:fld>
            <a:endParaRPr lang="en-US" sz="14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11E176-E527-9959-6483-65AB0D1D5B2C}"/>
              </a:ext>
            </a:extLst>
          </p:cNvPr>
          <p:cNvSpPr/>
          <p:nvPr/>
        </p:nvSpPr>
        <p:spPr>
          <a:xfrm>
            <a:off x="4243251" y="1927533"/>
            <a:ext cx="2867586" cy="1778000"/>
          </a:xfrm>
          <a:prstGeom prst="roundRect">
            <a:avLst/>
          </a:prstGeom>
          <a:solidFill>
            <a:srgbClr val="F8F0E3">
              <a:alpha val="89804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8F9F1D-6408-EE86-0664-451C384D1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974" y="1955724"/>
            <a:ext cx="2877561" cy="17780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61B09F-A5B1-053B-B22A-31E724D52DA4}"/>
              </a:ext>
            </a:extLst>
          </p:cNvPr>
          <p:cNvSpPr/>
          <p:nvPr/>
        </p:nvSpPr>
        <p:spPr>
          <a:xfrm>
            <a:off x="5923034" y="3907259"/>
            <a:ext cx="2854449" cy="1777999"/>
          </a:xfrm>
          <a:prstGeom prst="roundRect">
            <a:avLst/>
          </a:prstGeom>
          <a:solidFill>
            <a:srgbClr val="F8F0E3">
              <a:alpha val="89804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hr-HR" b="1" dirty="0"/>
          </a:p>
          <a:p>
            <a:pPr algn="ctr"/>
            <a:r>
              <a:rPr lang="hr-HR" b="1" dirty="0"/>
              <a:t>Backend</a:t>
            </a:r>
          </a:p>
          <a:p>
            <a:pPr algn="ctr"/>
            <a:endParaRPr lang="hr-HR" dirty="0"/>
          </a:p>
          <a:p>
            <a:pPr algn="ctr"/>
            <a:r>
              <a:rPr lang="hr-HR" dirty="0"/>
              <a:t>Josip Bušelić</a:t>
            </a:r>
          </a:p>
          <a:p>
            <a:pPr algn="ctr"/>
            <a:r>
              <a:rPr lang="hr-HR" dirty="0"/>
              <a:t>Lovre Jurjević</a:t>
            </a:r>
          </a:p>
          <a:p>
            <a:pPr algn="ctr"/>
            <a:r>
              <a:rPr lang="hr-HR" dirty="0"/>
              <a:t>Roko Matek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C6F2E-0B23-7209-54D0-1670FA4ABFA7}"/>
              </a:ext>
            </a:extLst>
          </p:cNvPr>
          <p:cNvSpPr txBox="1"/>
          <p:nvPr/>
        </p:nvSpPr>
        <p:spPr>
          <a:xfrm>
            <a:off x="4278103" y="2077869"/>
            <a:ext cx="28544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/>
              <a:t>Dokumentacija</a:t>
            </a:r>
          </a:p>
          <a:p>
            <a:pPr algn="ctr"/>
            <a:endParaRPr lang="hr-HR"/>
          </a:p>
          <a:p>
            <a:pPr algn="ctr"/>
            <a:endParaRPr lang="hr-HR"/>
          </a:p>
          <a:p>
            <a:pPr algn="ctr"/>
            <a:r>
              <a:rPr lang="hr-HR"/>
              <a:t>Lucija Kozić</a:t>
            </a:r>
          </a:p>
          <a:p>
            <a:pPr algn="ctr"/>
            <a:r>
              <a:rPr lang="hr-HR"/>
              <a:t>Marin Mikulčić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DDBAA4-A651-9F57-BF18-1059A632D82E}"/>
              </a:ext>
            </a:extLst>
          </p:cNvPr>
          <p:cNvSpPr txBox="1"/>
          <p:nvPr/>
        </p:nvSpPr>
        <p:spPr>
          <a:xfrm>
            <a:off x="7350259" y="2042090"/>
            <a:ext cx="28544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b="1"/>
              <a:t>Frontend</a:t>
            </a:r>
          </a:p>
          <a:p>
            <a:pPr algn="ctr"/>
            <a:endParaRPr lang="hr-HR" b="1"/>
          </a:p>
          <a:p>
            <a:pPr algn="ctr"/>
            <a:endParaRPr lang="hr-HR" b="1"/>
          </a:p>
          <a:p>
            <a:pPr algn="ctr"/>
            <a:r>
              <a:rPr lang="hr-HR"/>
              <a:t>Robin Kovačić</a:t>
            </a:r>
          </a:p>
          <a:p>
            <a:pPr algn="ctr"/>
            <a:r>
              <a:rPr lang="hr-HR"/>
              <a:t>Leon Krivski</a:t>
            </a:r>
          </a:p>
          <a:p>
            <a:endParaRPr lang="hr-HR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851727-43A5-2F43-F421-E493A750BC64}"/>
              </a:ext>
            </a:extLst>
          </p:cNvPr>
          <p:cNvSpPr/>
          <p:nvPr/>
        </p:nvSpPr>
        <p:spPr>
          <a:xfrm>
            <a:off x="9017709" y="3907259"/>
            <a:ext cx="2867586" cy="1777999"/>
          </a:xfrm>
          <a:prstGeom prst="roundRect">
            <a:avLst/>
          </a:prstGeom>
          <a:solidFill>
            <a:srgbClr val="F8F0E3">
              <a:alpha val="89804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hr-HR" b="1"/>
          </a:p>
          <a:p>
            <a:pPr algn="ctr"/>
            <a:r>
              <a:rPr lang="hr-HR" b="1"/>
              <a:t>Baza podataka</a:t>
            </a:r>
          </a:p>
          <a:p>
            <a:pPr algn="ctr"/>
            <a:endParaRPr lang="hr-HR"/>
          </a:p>
          <a:p>
            <a:pPr algn="ctr"/>
            <a:endParaRPr lang="hr-HR"/>
          </a:p>
          <a:p>
            <a:pPr algn="ctr"/>
            <a:r>
              <a:rPr lang="hr-HR"/>
              <a:t>Lovre Jurjević</a:t>
            </a:r>
          </a:p>
          <a:p>
            <a:pPr algn="ctr"/>
            <a:endParaRPr lang="hr-H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hr-HR"/>
              <a:t>O projektu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1798320"/>
            <a:ext cx="6597650" cy="45564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sz="2000" b="1"/>
              <a:t>Cilj: </a:t>
            </a:r>
            <a:r>
              <a:rPr lang="en-US" sz="2000" b="1"/>
              <a:t> </a:t>
            </a:r>
            <a:endParaRPr lang="hr-HR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izraditi</a:t>
            </a:r>
            <a:r>
              <a:rPr lang="en-US"/>
              <a:t> </a:t>
            </a:r>
            <a:r>
              <a:rPr lang="en-US" b="1"/>
              <a:t>web-</a:t>
            </a:r>
            <a:r>
              <a:rPr lang="en-US" b="1" err="1"/>
              <a:t>platformu</a:t>
            </a:r>
            <a:r>
              <a:rPr lang="en-US"/>
              <a:t> </a:t>
            </a:r>
            <a:r>
              <a:rPr lang="en-US" err="1"/>
              <a:t>koja</a:t>
            </a:r>
            <a:r>
              <a:rPr lang="en-US"/>
              <a:t> </a:t>
            </a:r>
            <a:r>
              <a:rPr lang="en-US" err="1"/>
              <a:t>će</a:t>
            </a:r>
            <a:r>
              <a:rPr lang="en-US"/>
              <a:t> </a:t>
            </a:r>
            <a:r>
              <a:rPr lang="en-US" err="1"/>
              <a:t>služiti</a:t>
            </a:r>
            <a:r>
              <a:rPr lang="en-US"/>
              <a:t> </a:t>
            </a:r>
            <a:r>
              <a:rPr lang="en-US" err="1"/>
              <a:t>kao</a:t>
            </a:r>
            <a:r>
              <a:rPr lang="en-US"/>
              <a:t> </a:t>
            </a:r>
            <a:r>
              <a:rPr lang="en-US" err="1"/>
              <a:t>centralno</a:t>
            </a:r>
            <a:r>
              <a:rPr lang="en-US"/>
              <a:t> </a:t>
            </a:r>
            <a:r>
              <a:rPr lang="en-US" err="1"/>
              <a:t>mjesto</a:t>
            </a:r>
            <a:r>
              <a:rPr lang="en-US"/>
              <a:t> za</a:t>
            </a:r>
            <a:r>
              <a:rPr lang="hr-HR"/>
              <a:t> </a:t>
            </a:r>
            <a:r>
              <a:rPr lang="en-US" b="1" err="1"/>
              <a:t>pregled</a:t>
            </a:r>
            <a:r>
              <a:rPr lang="en-US"/>
              <a:t>, </a:t>
            </a:r>
            <a:r>
              <a:rPr lang="en-US" b="1" err="1"/>
              <a:t>prijavu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b="1" err="1"/>
              <a:t>plaćanje</a:t>
            </a:r>
            <a:r>
              <a:rPr lang="en-US" b="1"/>
              <a:t> termina </a:t>
            </a:r>
            <a:r>
              <a:rPr lang="en-US" b="1" err="1"/>
              <a:t>radionica</a:t>
            </a:r>
            <a:r>
              <a:rPr lang="en-US" b="1"/>
              <a:t> </a:t>
            </a:r>
            <a:r>
              <a:rPr lang="en-US" err="1"/>
              <a:t>keramike</a:t>
            </a:r>
            <a:r>
              <a:rPr lang="hr-HR"/>
              <a:t>, </a:t>
            </a:r>
            <a:r>
              <a:rPr lang="hr-HR" b="1"/>
              <a:t>p</a:t>
            </a:r>
            <a:r>
              <a:rPr lang="en-US" b="1" err="1"/>
              <a:t>romociju</a:t>
            </a:r>
            <a:r>
              <a:rPr lang="en-US" b="1"/>
              <a:t> </a:t>
            </a:r>
            <a:r>
              <a:rPr lang="en-US" err="1"/>
              <a:t>održanih</a:t>
            </a:r>
            <a:r>
              <a:rPr lang="en-US"/>
              <a:t> </a:t>
            </a:r>
            <a:r>
              <a:rPr lang="en-US" err="1"/>
              <a:t>radionica</a:t>
            </a:r>
            <a:r>
              <a:rPr lang="hr-HR"/>
              <a:t>, </a:t>
            </a:r>
            <a:r>
              <a:rPr lang="en-US" b="1" err="1"/>
              <a:t>prodaju</a:t>
            </a:r>
            <a:r>
              <a:rPr lang="en-US"/>
              <a:t> </a:t>
            </a:r>
            <a:r>
              <a:rPr lang="en-US" err="1"/>
              <a:t>gotovih</a:t>
            </a:r>
            <a:r>
              <a:rPr lang="en-US"/>
              <a:t> </a:t>
            </a:r>
            <a:r>
              <a:rPr lang="en-US" err="1"/>
              <a:t>keramičkih</a:t>
            </a:r>
            <a:r>
              <a:rPr lang="en-US"/>
              <a:t> </a:t>
            </a:r>
            <a:r>
              <a:rPr lang="en-US" err="1"/>
              <a:t>radova</a:t>
            </a:r>
            <a:r>
              <a:rPr lang="hr-HR"/>
              <a:t>, </a:t>
            </a:r>
            <a:r>
              <a:rPr lang="en-US" b="1" err="1"/>
              <a:t>promociju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b="1" err="1"/>
              <a:t>organizaciju</a:t>
            </a:r>
            <a:r>
              <a:rPr lang="en-US" b="1"/>
              <a:t> </a:t>
            </a:r>
            <a:r>
              <a:rPr lang="en-US" b="1" err="1"/>
              <a:t>izložbi</a:t>
            </a:r>
            <a:r>
              <a:rPr lang="hr-HR"/>
              <a:t>, </a:t>
            </a:r>
            <a:r>
              <a:rPr lang="en-US" err="1"/>
              <a:t>međusobnu</a:t>
            </a:r>
            <a:r>
              <a:rPr lang="en-US"/>
              <a:t> </a:t>
            </a:r>
            <a:r>
              <a:rPr lang="en-US" b="1" err="1"/>
              <a:t>komunikaciju</a:t>
            </a:r>
            <a:r>
              <a:rPr lang="en-US"/>
              <a:t> </a:t>
            </a:r>
            <a:r>
              <a:rPr lang="en-US" err="1"/>
              <a:t>između</a:t>
            </a:r>
            <a:r>
              <a:rPr lang="en-US"/>
              <a:t> </a:t>
            </a:r>
            <a:r>
              <a:rPr lang="en-US" err="1"/>
              <a:t>polaznika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organizatora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/>
              <a:t>p</a:t>
            </a:r>
            <a:r>
              <a:rPr lang="en-US" err="1"/>
              <a:t>latforma</a:t>
            </a:r>
            <a:r>
              <a:rPr lang="en-US"/>
              <a:t> </a:t>
            </a:r>
            <a:r>
              <a:rPr lang="en-US" err="1"/>
              <a:t>omogućuje</a:t>
            </a:r>
            <a:r>
              <a:rPr lang="en-US"/>
              <a:t> </a:t>
            </a:r>
            <a:r>
              <a:rPr lang="en-US" b="1" err="1"/>
              <a:t>dvosmjernu</a:t>
            </a:r>
            <a:r>
              <a:rPr lang="en-US" b="1"/>
              <a:t> </a:t>
            </a:r>
            <a:r>
              <a:rPr lang="en-US" b="1" err="1"/>
              <a:t>interakciju</a:t>
            </a:r>
            <a:r>
              <a:rPr lang="en-US" b="1"/>
              <a:t> </a:t>
            </a:r>
            <a:r>
              <a:rPr lang="en-US" err="1"/>
              <a:t>između</a:t>
            </a:r>
            <a:r>
              <a:rPr lang="en-US"/>
              <a:t> </a:t>
            </a:r>
            <a:r>
              <a:rPr lang="en-US" err="1"/>
              <a:t>korisnika</a:t>
            </a:r>
            <a:r>
              <a:rPr lang="en-US"/>
              <a:t> (</a:t>
            </a:r>
            <a:r>
              <a:rPr lang="en-US" err="1"/>
              <a:t>polaznika</a:t>
            </a:r>
            <a:r>
              <a:rPr lang="en-US"/>
              <a:t>)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kreatora</a:t>
            </a:r>
            <a:r>
              <a:rPr lang="en-US"/>
              <a:t> </a:t>
            </a:r>
            <a:r>
              <a:rPr lang="en-US" err="1"/>
              <a:t>sadržaja</a:t>
            </a:r>
            <a:r>
              <a:rPr lang="en-US"/>
              <a:t> (</a:t>
            </a:r>
            <a:r>
              <a:rPr lang="en-US" err="1"/>
              <a:t>organizatora</a:t>
            </a:r>
            <a:r>
              <a:rPr lang="en-US"/>
              <a:t>), </a:t>
            </a:r>
            <a:r>
              <a:rPr lang="en-US" err="1"/>
              <a:t>čime</a:t>
            </a:r>
            <a:r>
              <a:rPr lang="en-US"/>
              <a:t> se </a:t>
            </a:r>
            <a:r>
              <a:rPr lang="en-US" b="1" err="1"/>
              <a:t>potiče</a:t>
            </a:r>
            <a:r>
              <a:rPr lang="en-US" b="1"/>
              <a:t> </a:t>
            </a:r>
            <a:r>
              <a:rPr lang="en-US" b="1" err="1"/>
              <a:t>zajednica</a:t>
            </a:r>
            <a:r>
              <a:rPr lang="en-US" b="1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b="1" err="1"/>
              <a:t>olakšava</a:t>
            </a:r>
            <a:r>
              <a:rPr lang="en-US" b="1"/>
              <a:t> </a:t>
            </a:r>
            <a:r>
              <a:rPr lang="en-US" b="1" err="1"/>
              <a:t>pristup</a:t>
            </a:r>
            <a:r>
              <a:rPr lang="en-US" b="1"/>
              <a:t> </a:t>
            </a:r>
            <a:r>
              <a:rPr lang="en-US" err="1"/>
              <a:t>kulturno-umjetničkim</a:t>
            </a:r>
            <a:r>
              <a:rPr lang="en-US"/>
              <a:t> </a:t>
            </a:r>
            <a:r>
              <a:rPr lang="en-US" err="1"/>
              <a:t>sadržajima</a:t>
            </a:r>
            <a:r>
              <a:rPr lang="en-US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4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4" y="299720"/>
            <a:ext cx="9389288" cy="599440"/>
          </a:xfrm>
        </p:spPr>
        <p:txBody>
          <a:bodyPr>
            <a:normAutofit/>
          </a:bodyPr>
          <a:lstStyle/>
          <a:p>
            <a:r>
              <a:rPr lang="hr-HR" sz="3600"/>
              <a:t>Pregled najvažnijih zahtjeva</a:t>
            </a:r>
            <a:endParaRPr lang="en-US" sz="36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65124" y="1087120"/>
            <a:ext cx="5324475" cy="3505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r-HR" sz="2400" b="1" dirty="0"/>
              <a:t>Funkcionalni zahtjevi: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omogućuje</a:t>
            </a:r>
            <a:r>
              <a:rPr lang="en-US" dirty="0"/>
              <a:t> </a:t>
            </a:r>
            <a:r>
              <a:rPr lang="en-US" dirty="0" err="1"/>
              <a:t>registraciju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prijavu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polaznika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organizatora</a:t>
            </a:r>
            <a:endParaRPr lang="hr-HR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omogućuje</a:t>
            </a:r>
            <a:r>
              <a:rPr lang="en-US" dirty="0"/>
              <a:t> </a:t>
            </a:r>
            <a:r>
              <a:rPr lang="en-US" dirty="0" err="1"/>
              <a:t>prijavu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vanjskih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za </a:t>
            </a:r>
            <a:r>
              <a:rPr lang="en-US" dirty="0" err="1"/>
              <a:t>autentifikaciju</a:t>
            </a:r>
            <a:endParaRPr lang="hr-HR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omogućuje</a:t>
            </a:r>
            <a:r>
              <a:rPr lang="en-US" dirty="0"/>
              <a:t> </a:t>
            </a:r>
            <a:r>
              <a:rPr lang="en-US" dirty="0" err="1"/>
              <a:t>organizatoru</a:t>
            </a:r>
            <a:r>
              <a:rPr lang="en-US" dirty="0"/>
              <a:t> </a:t>
            </a:r>
            <a:r>
              <a:rPr lang="en-US" dirty="0" err="1"/>
              <a:t>dodavanje</a:t>
            </a:r>
            <a:r>
              <a:rPr lang="en-US" dirty="0"/>
              <a:t> </a:t>
            </a:r>
            <a:r>
              <a:rPr lang="en-US" dirty="0" err="1"/>
              <a:t>novih</a:t>
            </a:r>
            <a:r>
              <a:rPr lang="en-US" dirty="0"/>
              <a:t> </a:t>
            </a:r>
            <a:r>
              <a:rPr lang="en-US" dirty="0" err="1"/>
              <a:t>radionica</a:t>
            </a:r>
            <a:r>
              <a:rPr lang="en-US" dirty="0"/>
              <a:t> s </a:t>
            </a:r>
            <a:r>
              <a:rPr lang="en-US" dirty="0" err="1"/>
              <a:t>pripadajućim</a:t>
            </a:r>
            <a:r>
              <a:rPr lang="en-US" dirty="0"/>
              <a:t> </a:t>
            </a:r>
            <a:r>
              <a:rPr lang="en-US" dirty="0" err="1"/>
              <a:t>detaljima</a:t>
            </a:r>
            <a:endParaRPr lang="hr-HR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it-IT" dirty="0" err="1"/>
              <a:t>Sustav</a:t>
            </a:r>
            <a:r>
              <a:rPr lang="it-IT" dirty="0"/>
              <a:t> </a:t>
            </a:r>
            <a:r>
              <a:rPr lang="it-IT" dirty="0" err="1"/>
              <a:t>omogućuje</a:t>
            </a:r>
            <a:r>
              <a:rPr lang="it-IT" dirty="0"/>
              <a:t> </a:t>
            </a:r>
            <a:r>
              <a:rPr lang="it-IT" dirty="0" err="1"/>
              <a:t>polaznicima</a:t>
            </a:r>
            <a:r>
              <a:rPr lang="it-IT" dirty="0"/>
              <a:t> </a:t>
            </a:r>
            <a:r>
              <a:rPr lang="it-IT" dirty="0" err="1"/>
              <a:t>pregled</a:t>
            </a:r>
            <a:r>
              <a:rPr lang="it-IT" dirty="0"/>
              <a:t> i </a:t>
            </a:r>
            <a:r>
              <a:rPr lang="it-IT" dirty="0" err="1"/>
              <a:t>rezervaciju</a:t>
            </a:r>
            <a:r>
              <a:rPr lang="it-IT" dirty="0"/>
              <a:t> termina radionica</a:t>
            </a:r>
            <a:endParaRPr lang="hr-HR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r-HR" dirty="0"/>
              <a:t>Sustav omogućuje korisnicima plaćanje termina radionica putem integriranih servisa</a:t>
            </a:r>
            <a:endParaRPr lang="en-US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hr-HR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r-HR" sz="11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r-H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 dirty="0"/>
          </a:p>
          <a:p>
            <a:endParaRPr lang="hr-HR" sz="1100" dirty="0"/>
          </a:p>
          <a:p>
            <a:endParaRPr lang="hr-HR" sz="11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5</a:t>
            </a:fld>
            <a:endParaRPr lang="en-US" sz="140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30C62A3-4153-D293-A82A-426E0E7429C9}"/>
              </a:ext>
            </a:extLst>
          </p:cNvPr>
          <p:cNvSpPr txBox="1">
            <a:spLocks/>
          </p:cNvSpPr>
          <p:nvPr/>
        </p:nvSpPr>
        <p:spPr>
          <a:xfrm>
            <a:off x="5466169" y="1463040"/>
            <a:ext cx="5212081" cy="576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omogućuje</a:t>
            </a:r>
            <a:r>
              <a:rPr lang="en-US" dirty="0"/>
              <a:t> </a:t>
            </a:r>
            <a:r>
              <a:rPr lang="en-US" dirty="0" err="1"/>
              <a:t>organizatorima</a:t>
            </a:r>
            <a:r>
              <a:rPr lang="en-US" dirty="0"/>
              <a:t> </a:t>
            </a:r>
            <a:r>
              <a:rPr lang="en-US" dirty="0" err="1"/>
              <a:t>plaćanje</a:t>
            </a:r>
            <a:r>
              <a:rPr lang="en-US" dirty="0"/>
              <a:t> </a:t>
            </a:r>
            <a:r>
              <a:rPr lang="en-US" dirty="0" err="1"/>
              <a:t>članarine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odabranom</a:t>
            </a:r>
            <a:r>
              <a:rPr lang="en-US" dirty="0"/>
              <a:t> </a:t>
            </a:r>
            <a:r>
              <a:rPr lang="en-US" dirty="0" err="1"/>
              <a:t>planu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omogućuje</a:t>
            </a:r>
            <a:r>
              <a:rPr lang="en-US" dirty="0"/>
              <a:t> </a:t>
            </a:r>
            <a:r>
              <a:rPr lang="en-US" dirty="0" err="1"/>
              <a:t>organizatorima</a:t>
            </a:r>
            <a:r>
              <a:rPr lang="en-US" dirty="0"/>
              <a:t> </a:t>
            </a:r>
            <a:r>
              <a:rPr lang="en-US" dirty="0" err="1"/>
              <a:t>plaćanje</a:t>
            </a:r>
            <a:r>
              <a:rPr lang="en-US" dirty="0"/>
              <a:t> </a:t>
            </a:r>
            <a:r>
              <a:rPr lang="en-US" dirty="0" err="1"/>
              <a:t>članarine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odabranom</a:t>
            </a:r>
            <a:r>
              <a:rPr lang="en-US" dirty="0"/>
              <a:t> </a:t>
            </a:r>
            <a:r>
              <a:rPr lang="en-US" dirty="0" err="1"/>
              <a:t>planu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omogućuje</a:t>
            </a:r>
            <a:r>
              <a:rPr lang="en-US" dirty="0"/>
              <a:t> </a:t>
            </a:r>
            <a:r>
              <a:rPr lang="en-US" dirty="0" err="1"/>
              <a:t>kupcima</a:t>
            </a:r>
            <a:r>
              <a:rPr lang="en-US" dirty="0"/>
              <a:t> </a:t>
            </a:r>
            <a:r>
              <a:rPr lang="en-US" dirty="0" err="1"/>
              <a:t>pregled</a:t>
            </a:r>
            <a:r>
              <a:rPr lang="en-US" dirty="0"/>
              <a:t>, </a:t>
            </a:r>
            <a:r>
              <a:rPr lang="en-US" dirty="0" err="1"/>
              <a:t>filtriranje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kupovinu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Sustav omogućuje administratorima upravljanje korisnicima i odobravanje profila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Sustav</a:t>
            </a:r>
            <a:r>
              <a:rPr lang="en-US" dirty="0"/>
              <a:t> mora </a:t>
            </a:r>
            <a:r>
              <a:rPr lang="en-US" dirty="0" err="1"/>
              <a:t>primjenjivati</a:t>
            </a:r>
            <a:r>
              <a:rPr lang="en-US" dirty="0"/>
              <a:t> </a:t>
            </a:r>
            <a:r>
              <a:rPr lang="en-US" dirty="0" err="1"/>
              <a:t>kontrolu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korisničkim</a:t>
            </a:r>
            <a:r>
              <a:rPr lang="en-US" dirty="0"/>
              <a:t> </a:t>
            </a:r>
            <a:r>
              <a:rPr lang="en-US" dirty="0" err="1"/>
              <a:t>ulogama</a:t>
            </a:r>
            <a:r>
              <a:rPr lang="en-US" dirty="0"/>
              <a:t> (</a:t>
            </a:r>
            <a:r>
              <a:rPr lang="en-US" dirty="0" err="1"/>
              <a:t>polaznik</a:t>
            </a:r>
            <a:r>
              <a:rPr lang="en-US" dirty="0"/>
              <a:t>, </a:t>
            </a:r>
            <a:r>
              <a:rPr lang="en-US" dirty="0" err="1"/>
              <a:t>organizator</a:t>
            </a:r>
            <a:r>
              <a:rPr lang="en-US" dirty="0"/>
              <a:t>, administrator)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ograničiti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nedozvoljenim</a:t>
            </a:r>
            <a:r>
              <a:rPr lang="en-US" dirty="0"/>
              <a:t> </a:t>
            </a:r>
            <a:r>
              <a:rPr lang="en-US" dirty="0" err="1"/>
              <a:t>funkcijama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 dirty="0"/>
          </a:p>
          <a:p>
            <a:endParaRPr lang="hr-HR" sz="1100" dirty="0"/>
          </a:p>
          <a:p>
            <a:endParaRPr lang="hr-HR" sz="1100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00B1-D5C2-8828-6B49-209D4311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2827E0-5C23-3747-7664-571ECEF4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4" y="299720"/>
            <a:ext cx="9389288" cy="599440"/>
          </a:xfrm>
        </p:spPr>
        <p:txBody>
          <a:bodyPr>
            <a:normAutofit/>
          </a:bodyPr>
          <a:lstStyle/>
          <a:p>
            <a:r>
              <a:rPr lang="hr-HR" sz="3600"/>
              <a:t>Pregled najvažnijih zahtjeva</a:t>
            </a:r>
            <a:endParaRPr lang="en-US" sz="36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2BA8DC-D85E-1321-D06B-E38ADBADAF9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65124" y="1087120"/>
            <a:ext cx="5324475" cy="3505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r-HR" sz="2400" b="1"/>
              <a:t>Nefunkcionalni zahtjevi: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hr-HR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r-HR" sz="11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r-HR" sz="11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sz="1100"/>
          </a:p>
          <a:p>
            <a:endParaRPr lang="hr-HR" sz="1100"/>
          </a:p>
          <a:p>
            <a:endParaRPr lang="hr-HR" sz="11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0D8D4-976E-ADA5-69B1-5D326CE2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EABB6-07DC-46E8-9B57-56EC44A396E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0FBBD77-A6B7-4D65-9B99-E662428ECC0C}"/>
              </a:ext>
            </a:extLst>
          </p:cNvPr>
          <p:cNvSpPr txBox="1">
            <a:spLocks/>
          </p:cNvSpPr>
          <p:nvPr/>
        </p:nvSpPr>
        <p:spPr>
          <a:xfrm>
            <a:off x="5466169" y="1463040"/>
            <a:ext cx="5212081" cy="576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hr-H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hr-H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hr-H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hr-H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359B5-B3A8-4B7F-3A1A-0E4AEC9D96AC}"/>
              </a:ext>
            </a:extLst>
          </p:cNvPr>
          <p:cNvSpPr txBox="1"/>
          <p:nvPr/>
        </p:nvSpPr>
        <p:spPr>
          <a:xfrm>
            <a:off x="487680" y="1625600"/>
            <a:ext cx="52019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Sustav</a:t>
            </a:r>
            <a:r>
              <a:rPr lang="en-US"/>
              <a:t> mora </a:t>
            </a:r>
            <a:r>
              <a:rPr lang="en-US" err="1"/>
              <a:t>imati</a:t>
            </a:r>
            <a:r>
              <a:rPr lang="en-US"/>
              <a:t> </a:t>
            </a:r>
            <a:r>
              <a:rPr lang="en-US" err="1"/>
              <a:t>intuitivno</a:t>
            </a:r>
            <a:r>
              <a:rPr lang="en-US"/>
              <a:t> </a:t>
            </a:r>
            <a:r>
              <a:rPr lang="en-US" err="1"/>
              <a:t>korisničko</a:t>
            </a:r>
            <a:r>
              <a:rPr lang="en-US"/>
              <a:t> </a:t>
            </a:r>
            <a:r>
              <a:rPr lang="en-US" err="1"/>
              <a:t>sučelje</a:t>
            </a:r>
            <a:r>
              <a:rPr lang="en-US"/>
              <a:t> </a:t>
            </a:r>
            <a:r>
              <a:rPr lang="en-US" err="1"/>
              <a:t>koje</a:t>
            </a:r>
            <a:r>
              <a:rPr lang="en-US"/>
              <a:t> </a:t>
            </a:r>
            <a:r>
              <a:rPr lang="en-US" err="1"/>
              <a:t>omogućuje</a:t>
            </a:r>
            <a:r>
              <a:rPr lang="en-US"/>
              <a:t> </a:t>
            </a:r>
            <a:r>
              <a:rPr lang="en-US" err="1"/>
              <a:t>korisniku</a:t>
            </a:r>
            <a:r>
              <a:rPr lang="en-US"/>
              <a:t> </a:t>
            </a:r>
            <a:r>
              <a:rPr lang="en-US" err="1"/>
              <a:t>izvršavanje</a:t>
            </a:r>
            <a:r>
              <a:rPr lang="en-US"/>
              <a:t> </a:t>
            </a:r>
            <a:r>
              <a:rPr lang="en-US" err="1"/>
              <a:t>glavnih</a:t>
            </a:r>
            <a:r>
              <a:rPr lang="en-US"/>
              <a:t> </a:t>
            </a:r>
            <a:r>
              <a:rPr lang="en-US" err="1"/>
              <a:t>funkcija</a:t>
            </a:r>
            <a:r>
              <a:rPr lang="en-US"/>
              <a:t> </a:t>
            </a:r>
            <a:r>
              <a:rPr lang="en-US" err="1"/>
              <a:t>unutar</a:t>
            </a:r>
            <a:r>
              <a:rPr lang="en-US"/>
              <a:t> </a:t>
            </a:r>
            <a:r>
              <a:rPr lang="en-US" err="1"/>
              <a:t>najviše</a:t>
            </a:r>
            <a:r>
              <a:rPr lang="en-US"/>
              <a:t> tri </a:t>
            </a:r>
            <a:r>
              <a:rPr lang="en-US" err="1"/>
              <a:t>koraka</a:t>
            </a:r>
            <a:endParaRPr lang="hr-HR"/>
          </a:p>
          <a:p>
            <a:endParaRPr lang="hr-H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Sav </a:t>
            </a:r>
            <a:r>
              <a:rPr lang="en-US" err="1"/>
              <a:t>mrežni</a:t>
            </a:r>
            <a:r>
              <a:rPr lang="en-US"/>
              <a:t> </a:t>
            </a:r>
            <a:r>
              <a:rPr lang="en-US" err="1"/>
              <a:t>promet</a:t>
            </a:r>
            <a:r>
              <a:rPr lang="en-US"/>
              <a:t> </a:t>
            </a:r>
            <a:r>
              <a:rPr lang="en-US" err="1"/>
              <a:t>između</a:t>
            </a:r>
            <a:r>
              <a:rPr lang="en-US"/>
              <a:t> </a:t>
            </a:r>
            <a:r>
              <a:rPr lang="en-US" err="1"/>
              <a:t>klijenta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poslužitelja</a:t>
            </a:r>
            <a:r>
              <a:rPr lang="en-US"/>
              <a:t> mora </a:t>
            </a:r>
            <a:r>
              <a:rPr lang="en-US" err="1"/>
              <a:t>biti</a:t>
            </a:r>
            <a:r>
              <a:rPr lang="en-US"/>
              <a:t> </a:t>
            </a:r>
            <a:r>
              <a:rPr lang="en-US" err="1"/>
              <a:t>šifriran</a:t>
            </a:r>
            <a:r>
              <a:rPr lang="en-US"/>
              <a:t> </a:t>
            </a:r>
            <a:r>
              <a:rPr lang="en-US" err="1"/>
              <a:t>korištenjem</a:t>
            </a:r>
            <a:r>
              <a:rPr lang="en-US"/>
              <a:t> </a:t>
            </a:r>
            <a:r>
              <a:rPr lang="en-US" err="1"/>
              <a:t>sigurnosnog</a:t>
            </a:r>
            <a:r>
              <a:rPr lang="en-US"/>
              <a:t> </a:t>
            </a:r>
            <a:r>
              <a:rPr lang="en-US" err="1"/>
              <a:t>protokola</a:t>
            </a:r>
            <a:r>
              <a:rPr lang="en-US"/>
              <a:t> s </a:t>
            </a:r>
            <a:r>
              <a:rPr lang="en-US" err="1"/>
              <a:t>certifikatom</a:t>
            </a:r>
            <a:endParaRPr lang="hr-H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Sustav</a:t>
            </a:r>
            <a:r>
              <a:rPr lang="en-US"/>
              <a:t> mora </a:t>
            </a:r>
            <a:r>
              <a:rPr lang="en-US" err="1"/>
              <a:t>sadržavati</a:t>
            </a:r>
            <a:r>
              <a:rPr lang="en-US"/>
              <a:t> </a:t>
            </a:r>
            <a:r>
              <a:rPr lang="en-US" err="1"/>
              <a:t>tehničku</a:t>
            </a:r>
            <a:r>
              <a:rPr lang="en-US"/>
              <a:t> </a:t>
            </a:r>
            <a:r>
              <a:rPr lang="en-US" err="1"/>
              <a:t>dokumentaciju</a:t>
            </a:r>
            <a:r>
              <a:rPr lang="en-US"/>
              <a:t> </a:t>
            </a:r>
            <a:r>
              <a:rPr lang="en-US" err="1"/>
              <a:t>koja</a:t>
            </a:r>
            <a:r>
              <a:rPr lang="en-US"/>
              <a:t> </a:t>
            </a:r>
            <a:r>
              <a:rPr lang="en-US" err="1"/>
              <a:t>uključuje</a:t>
            </a:r>
            <a:r>
              <a:rPr lang="en-US"/>
              <a:t> </a:t>
            </a:r>
            <a:r>
              <a:rPr lang="en-US" err="1"/>
              <a:t>opis</a:t>
            </a:r>
            <a:r>
              <a:rPr lang="en-US"/>
              <a:t> </a:t>
            </a:r>
            <a:r>
              <a:rPr lang="en-US" err="1"/>
              <a:t>arhitekture</a:t>
            </a:r>
            <a:r>
              <a:rPr lang="en-US"/>
              <a:t>, </a:t>
            </a:r>
            <a:r>
              <a:rPr lang="en-US" err="1"/>
              <a:t>modula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API-ja, </a:t>
            </a:r>
            <a:r>
              <a:rPr lang="en-US" err="1"/>
              <a:t>priručnik</a:t>
            </a:r>
            <a:r>
              <a:rPr lang="en-US"/>
              <a:t> za </a:t>
            </a:r>
            <a:r>
              <a:rPr lang="en-US" err="1"/>
              <a:t>korištenje</a:t>
            </a:r>
            <a:r>
              <a:rPr lang="en-US"/>
              <a:t> s </a:t>
            </a:r>
            <a:r>
              <a:rPr lang="en-US" err="1"/>
              <a:t>opisom</a:t>
            </a:r>
            <a:r>
              <a:rPr lang="en-US"/>
              <a:t> </a:t>
            </a:r>
            <a:r>
              <a:rPr lang="en-US" err="1"/>
              <a:t>osnovnih</a:t>
            </a:r>
            <a:r>
              <a:rPr lang="en-US"/>
              <a:t> </a:t>
            </a:r>
            <a:r>
              <a:rPr lang="en-US" err="1"/>
              <a:t>funkcionalnosti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postupaka</a:t>
            </a:r>
            <a:r>
              <a:rPr lang="en-US"/>
              <a:t> rada </a:t>
            </a:r>
            <a:r>
              <a:rPr lang="en-US" err="1"/>
              <a:t>te</a:t>
            </a:r>
            <a:r>
              <a:rPr lang="en-US"/>
              <a:t> plan </a:t>
            </a:r>
            <a:r>
              <a:rPr lang="en-US" err="1"/>
              <a:t>implementacije</a:t>
            </a:r>
            <a:r>
              <a:rPr lang="en-US"/>
              <a:t> koji </a:t>
            </a:r>
            <a:r>
              <a:rPr lang="en-US" err="1"/>
              <a:t>omogućuje</a:t>
            </a:r>
            <a:r>
              <a:rPr lang="en-US"/>
              <a:t> </a:t>
            </a:r>
            <a:r>
              <a:rPr lang="en-US" err="1"/>
              <a:t>postavljanje</a:t>
            </a:r>
            <a:r>
              <a:rPr lang="en-US"/>
              <a:t> </a:t>
            </a:r>
            <a:r>
              <a:rPr lang="en-US" err="1"/>
              <a:t>sustava</a:t>
            </a:r>
            <a:r>
              <a:rPr lang="en-US"/>
              <a:t> u novo </a:t>
            </a:r>
            <a:r>
              <a:rPr lang="en-US" err="1"/>
              <a:t>okruženje</a:t>
            </a:r>
            <a:r>
              <a:rPr lang="en-US"/>
              <a:t> u </a:t>
            </a:r>
            <a:r>
              <a:rPr lang="en-US" err="1"/>
              <a:t>roku</a:t>
            </a:r>
            <a:r>
              <a:rPr lang="en-US"/>
              <a:t> od </a:t>
            </a:r>
            <a:r>
              <a:rPr lang="en-US" err="1"/>
              <a:t>najviše</a:t>
            </a:r>
            <a:r>
              <a:rPr lang="en-US"/>
              <a:t> 4 </a:t>
            </a:r>
            <a:r>
              <a:rPr lang="en-US" err="1"/>
              <a:t>sata</a:t>
            </a:r>
            <a:endParaRPr lang="hr-H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61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637" y="167004"/>
            <a:ext cx="7606895" cy="2029967"/>
          </a:xfrm>
        </p:spPr>
        <p:txBody>
          <a:bodyPr/>
          <a:lstStyle/>
          <a:p>
            <a:r>
              <a:rPr lang="hr-HR"/>
              <a:t>UML dijagram obrazaca uporabe</a:t>
            </a:r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114" y="2688112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2825272"/>
            <a:ext cx="98127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7</a:t>
            </a:fld>
            <a:endParaRPr lang="en-US" sz="1400"/>
          </a:p>
        </p:txBody>
      </p:sp>
      <p:pic>
        <p:nvPicPr>
          <p:cNvPr id="8" name="Picture 7" descr="PlantUML diagram">
            <a:extLst>
              <a:ext uri="{FF2B5EF4-FFF2-40B4-BE49-F238E27FC236}">
                <a16:creationId xmlns:a16="http://schemas.microsoft.com/office/drawing/2014/main" id="{F79A0BCF-7C9C-AFF8-A378-99E9EC399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48" y="4629674"/>
            <a:ext cx="11281504" cy="1731036"/>
          </a:xfrm>
          <a:prstGeom prst="rect">
            <a:avLst/>
          </a:prstGeom>
        </p:spPr>
      </p:pic>
      <p:pic>
        <p:nvPicPr>
          <p:cNvPr id="9" name="Picture 8" descr="PlantUML diagram">
            <a:extLst>
              <a:ext uri="{FF2B5EF4-FFF2-40B4-BE49-F238E27FC236}">
                <a16:creationId xmlns:a16="http://schemas.microsoft.com/office/drawing/2014/main" id="{AA164300-D606-6DC5-D503-094F56C0E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169" y="1430617"/>
            <a:ext cx="9083430" cy="305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1E4E-D188-1B34-C232-7A120592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966E-6098-3FB6-408A-9B77B0B0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637" y="167004"/>
            <a:ext cx="7606895" cy="2029967"/>
          </a:xfrm>
        </p:spPr>
        <p:txBody>
          <a:bodyPr/>
          <a:lstStyle/>
          <a:p>
            <a:r>
              <a:rPr lang="hr-HR"/>
              <a:t>Sekvencijski dijagrami</a:t>
            </a:r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1792A65-1822-C63E-9E8B-9CE747E37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114" y="2688112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51EEA2-4055-8818-96E1-3AB9409B7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2825272"/>
            <a:ext cx="98127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C0900E93-F8C8-D9AB-F547-B9E8102C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8</a:t>
            </a:fld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B734D-2622-66C0-12E7-81C69E530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572" y="974569"/>
            <a:ext cx="2849428" cy="5716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E3F2E3-37FD-C8A9-6167-7026BFBE2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211" y="974569"/>
            <a:ext cx="4847755" cy="50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5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hr-HR" dirty="0"/>
              <a:t>Arhitektura sustava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/>
              <a:pPr/>
              <a:t>9</a:t>
            </a:fld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2B94B-EAA3-D201-E820-9975D10E8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494" y="2393190"/>
            <a:ext cx="4555460" cy="3064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9D4B9F-B089-0920-7696-338E4F34DFFA}"/>
              </a:ext>
            </a:extLst>
          </p:cNvPr>
          <p:cNvSpPr txBox="1"/>
          <p:nvPr/>
        </p:nvSpPr>
        <p:spPr>
          <a:xfrm>
            <a:off x="1552574" y="1803327"/>
            <a:ext cx="3924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err="1">
                <a:solidFill>
                  <a:schemeClr val="tx2"/>
                </a:solidFill>
              </a:rPr>
              <a:t>klijent</a:t>
            </a:r>
            <a:r>
              <a:rPr lang="en-US" b="1">
                <a:solidFill>
                  <a:schemeClr val="tx2"/>
                </a:solidFill>
              </a:rPr>
              <a:t>–</a:t>
            </a:r>
            <a:r>
              <a:rPr lang="en-US" b="1" err="1">
                <a:solidFill>
                  <a:schemeClr val="tx2"/>
                </a:solidFill>
              </a:rPr>
              <a:t>poslužitelj</a:t>
            </a:r>
            <a:r>
              <a:rPr lang="en-US">
                <a:solidFill>
                  <a:schemeClr val="tx2"/>
                </a:solidFill>
              </a:rPr>
              <a:t> </a:t>
            </a:r>
            <a:r>
              <a:rPr lang="en-US" err="1">
                <a:solidFill>
                  <a:schemeClr val="tx2"/>
                </a:solidFill>
              </a:rPr>
              <a:t>arhitektonski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 err="1">
                <a:solidFill>
                  <a:schemeClr val="tx2"/>
                </a:solidFill>
              </a:rPr>
              <a:t>stil</a:t>
            </a:r>
            <a:endParaRPr lang="en-US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A6EBD-D56E-6464-BCF1-B99157BDB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378" y="519424"/>
            <a:ext cx="3673482" cy="2937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C62627-FF66-FF73-E0ED-0C6FE6E33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88" y="3779340"/>
            <a:ext cx="4026188" cy="293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hr-HR"/>
              <a:t>ISPITIVANJE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2108279"/>
            <a:ext cx="4278313" cy="4046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b="1" dirty="0"/>
              <a:t>Ispitani su osnovni moduli na kojima se zasniva daljnja funkcionalnost aplikacije.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Ispitani su scenariji upotrebe koji obuhvaćaju osnovne funkcionalnosti aplikacije.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Krajnji korisnici i njihovo iskustvo aplikacije uzeto je u obzir.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10</a:t>
            </a:fld>
            <a:endParaRPr lang="en-US" sz="140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4AA20CC-E63B-22E3-F95B-D5AA3D0CF3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6010199"/>
              </p:ext>
            </p:extLst>
          </p:nvPr>
        </p:nvGraphicFramePr>
        <p:xfrm>
          <a:off x="5040527" y="508686"/>
          <a:ext cx="7063945" cy="5650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E2C2-EDDF-5B70-067D-8E2DB836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4412-5A10-1FBC-D8FB-0B099790E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2997" y="299544"/>
            <a:ext cx="8969670" cy="1029586"/>
          </a:xfrm>
        </p:spPr>
        <p:txBody>
          <a:bodyPr>
            <a:normAutofit fontScale="90000"/>
          </a:bodyPr>
          <a:lstStyle/>
          <a:p>
            <a:r>
              <a:rPr lang="hr-HR"/>
              <a:t>KORIŠTENI ALATI i tehnlogije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26C61-65BB-710F-EF82-BFBD8975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11</a:t>
            </a:fld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1D491-216D-25A4-5F77-4DCCA78C85F4}"/>
              </a:ext>
            </a:extLst>
          </p:cNvPr>
          <p:cNvSpPr txBox="1"/>
          <p:nvPr/>
        </p:nvSpPr>
        <p:spPr>
          <a:xfrm>
            <a:off x="6827392" y="1532646"/>
            <a:ext cx="294320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>
                <a:solidFill>
                  <a:schemeClr val="tx2"/>
                </a:solidFill>
              </a:rPr>
              <a:t>Radni</a:t>
            </a:r>
            <a:r>
              <a:rPr lang="en-GB" sz="2800" b="1" dirty="0">
                <a:solidFill>
                  <a:schemeClr val="tx2"/>
                </a:solidFill>
              </a:rPr>
              <a:t> </a:t>
            </a:r>
            <a:r>
              <a:rPr lang="en-GB" sz="2800" b="1" dirty="0" err="1">
                <a:solidFill>
                  <a:schemeClr val="tx2"/>
                </a:solidFill>
              </a:rPr>
              <a:t>okviri</a:t>
            </a:r>
            <a:r>
              <a:rPr lang="en-GB" sz="2800" b="1" dirty="0">
                <a:solidFill>
                  <a:schemeClr val="tx2"/>
                </a:solidFill>
              </a:rPr>
              <a:t> </a:t>
            </a:r>
            <a:r>
              <a:rPr lang="en-GB" sz="2800" b="1" dirty="0" err="1">
                <a:solidFill>
                  <a:schemeClr val="tx2"/>
                </a:solidFill>
              </a:rPr>
              <a:t>i</a:t>
            </a:r>
            <a:r>
              <a:rPr lang="en-GB" sz="2800" b="1" dirty="0">
                <a:solidFill>
                  <a:schemeClr val="tx2"/>
                </a:solidFill>
              </a:rPr>
              <a:t> </a:t>
            </a:r>
            <a:r>
              <a:rPr lang="en-GB" sz="2800" b="1" dirty="0" err="1">
                <a:solidFill>
                  <a:schemeClr val="tx2"/>
                </a:solidFill>
              </a:rPr>
              <a:t>biblioteke</a:t>
            </a:r>
            <a:r>
              <a:rPr lang="en-GB" sz="2800" b="1" dirty="0">
                <a:solidFill>
                  <a:schemeClr val="tx2"/>
                </a:solidFill>
              </a:rPr>
              <a:t>: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React 19.2.0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Tailwind CSS 4.1.17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Vite 7.2.4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Flask 3.1.2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JavaScript ES2023</a:t>
            </a:r>
          </a:p>
          <a:p>
            <a:endParaRPr lang="en-GB" dirty="0"/>
          </a:p>
          <a:p>
            <a:endParaRPr lang="hr-HR" dirty="0"/>
          </a:p>
          <a:p>
            <a:endParaRPr lang="hr-HR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B499D-EB1C-6B26-AEA4-83AE8DBCD515}"/>
              </a:ext>
            </a:extLst>
          </p:cNvPr>
          <p:cNvSpPr txBox="1"/>
          <p:nvPr/>
        </p:nvSpPr>
        <p:spPr>
          <a:xfrm>
            <a:off x="4294677" y="1535956"/>
            <a:ext cx="294320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b="1" dirty="0">
                <a:solidFill>
                  <a:schemeClr val="tx2"/>
                </a:solidFill>
              </a:rPr>
              <a:t>Programski jezici</a:t>
            </a:r>
            <a:r>
              <a:rPr lang="en-GB" sz="2800" b="1" dirty="0">
                <a:solidFill>
                  <a:schemeClr val="tx2"/>
                </a:solidFill>
              </a:rPr>
              <a:t>: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TypeScript 5.9.3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Python 3.13.5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CSS 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HTML 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JavaScript</a:t>
            </a:r>
          </a:p>
          <a:p>
            <a:endParaRPr lang="en-GB" dirty="0"/>
          </a:p>
          <a:p>
            <a:endParaRPr lang="hr-HR" dirty="0"/>
          </a:p>
          <a:p>
            <a:endParaRPr lang="hr-HR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0CCE0-DF81-1029-E142-D9B520FFD764}"/>
              </a:ext>
            </a:extLst>
          </p:cNvPr>
          <p:cNvSpPr txBox="1"/>
          <p:nvPr/>
        </p:nvSpPr>
        <p:spPr>
          <a:xfrm>
            <a:off x="4294677" y="4516880"/>
            <a:ext cx="262295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tx2"/>
                </a:solidFill>
              </a:rPr>
              <a:t>Baza </a:t>
            </a:r>
            <a:r>
              <a:rPr lang="en-GB" sz="2800" b="1" err="1">
                <a:solidFill>
                  <a:schemeClr val="tx2"/>
                </a:solidFill>
              </a:rPr>
              <a:t>podataka</a:t>
            </a:r>
            <a:r>
              <a:rPr lang="en-GB" sz="2800" b="1">
                <a:solidFill>
                  <a:schemeClr val="tx2"/>
                </a:solidFill>
              </a:rPr>
              <a:t>:</a:t>
            </a:r>
          </a:p>
          <a:p>
            <a:endParaRPr lang="en-GB" sz="20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tx2"/>
                </a:solidFill>
              </a:rPr>
              <a:t>PostgreSQL 17.6</a:t>
            </a:r>
          </a:p>
          <a:p>
            <a:endParaRPr lang="hr-HR"/>
          </a:p>
          <a:p>
            <a:endParaRPr lang="hr-HR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BA47C-5B1B-8C06-03A5-1DF52787DA75}"/>
              </a:ext>
            </a:extLst>
          </p:cNvPr>
          <p:cNvSpPr txBox="1"/>
          <p:nvPr/>
        </p:nvSpPr>
        <p:spPr>
          <a:xfrm>
            <a:off x="6827392" y="4514769"/>
            <a:ext cx="29432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>
                <a:solidFill>
                  <a:schemeClr val="tx2"/>
                </a:solidFill>
              </a:rPr>
              <a:t>Razvojni</a:t>
            </a:r>
            <a:r>
              <a:rPr lang="en-GB" sz="2800" b="1" dirty="0">
                <a:solidFill>
                  <a:schemeClr val="tx2"/>
                </a:solidFill>
              </a:rPr>
              <a:t> </a:t>
            </a:r>
            <a:r>
              <a:rPr lang="en-GB" sz="2800" b="1" dirty="0" err="1">
                <a:solidFill>
                  <a:schemeClr val="tx2"/>
                </a:solidFill>
              </a:rPr>
              <a:t>alati</a:t>
            </a:r>
            <a:r>
              <a:rPr lang="en-GB" sz="2800" b="1" dirty="0">
                <a:solidFill>
                  <a:schemeClr val="tx2"/>
                </a:solidFill>
              </a:rPr>
              <a:t>:</a:t>
            </a:r>
          </a:p>
          <a:p>
            <a:endParaRPr lang="en-GB" sz="20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VS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Git 2.51.2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GitHub</a:t>
            </a:r>
          </a:p>
          <a:p>
            <a:endParaRPr lang="en-GB" dirty="0"/>
          </a:p>
          <a:p>
            <a:endParaRPr lang="hr-HR" dirty="0"/>
          </a:p>
          <a:p>
            <a:endParaRPr lang="hr-HR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A1CA5F-A6CB-5BD4-A030-943BC5B2F8B0}"/>
              </a:ext>
            </a:extLst>
          </p:cNvPr>
          <p:cNvSpPr txBox="1"/>
          <p:nvPr/>
        </p:nvSpPr>
        <p:spPr>
          <a:xfrm>
            <a:off x="9651693" y="1529336"/>
            <a:ext cx="294320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tx2"/>
                </a:solidFill>
              </a:rPr>
              <a:t>Alati za </a:t>
            </a:r>
            <a:r>
              <a:rPr lang="en-GB" sz="2800" b="1" err="1">
                <a:solidFill>
                  <a:schemeClr val="tx2"/>
                </a:solidFill>
              </a:rPr>
              <a:t>ispitivanje</a:t>
            </a:r>
            <a:r>
              <a:rPr lang="en-GB" sz="2800" b="1">
                <a:solidFill>
                  <a:schemeClr val="tx2"/>
                </a:solidFill>
              </a:rPr>
              <a:t>:</a:t>
            </a:r>
          </a:p>
          <a:p>
            <a:endParaRPr lang="en-GB" sz="200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err="1">
                <a:solidFill>
                  <a:schemeClr val="tx2"/>
                </a:solidFill>
              </a:rPr>
              <a:t>Vitest</a:t>
            </a:r>
            <a:r>
              <a:rPr lang="en-GB" sz="2000">
                <a:solidFill>
                  <a:schemeClr val="tx2"/>
                </a:solidFill>
              </a:rPr>
              <a:t> 4.0.16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2"/>
                </a:solidFill>
              </a:rPr>
              <a:t>Playwright 1.57.0</a:t>
            </a:r>
          </a:p>
          <a:p>
            <a:endParaRPr lang="en-GB"/>
          </a:p>
          <a:p>
            <a:endParaRPr lang="hr-HR"/>
          </a:p>
          <a:p>
            <a:endParaRPr lang="hr-HR"/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AFCA7-728C-E84F-C85A-2B46A8A8481D}"/>
              </a:ext>
            </a:extLst>
          </p:cNvPr>
          <p:cNvSpPr txBox="1"/>
          <p:nvPr/>
        </p:nvSpPr>
        <p:spPr>
          <a:xfrm>
            <a:off x="9651693" y="4514769"/>
            <a:ext cx="281970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Cloud </a:t>
            </a:r>
            <a:r>
              <a:rPr lang="en-GB" sz="2800" b="1" dirty="0" err="1">
                <a:solidFill>
                  <a:schemeClr val="tx2"/>
                </a:solidFill>
              </a:rPr>
              <a:t>platforma</a:t>
            </a:r>
            <a:r>
              <a:rPr lang="en-GB" sz="2800" b="1" dirty="0">
                <a:solidFill>
                  <a:schemeClr val="tx2"/>
                </a:solidFill>
              </a:rPr>
              <a:t>:</a:t>
            </a:r>
          </a:p>
          <a:p>
            <a:endParaRPr lang="en-GB" sz="18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tx2"/>
                </a:solidFill>
              </a:rPr>
              <a:t>Vercel</a:t>
            </a:r>
            <a:endParaRPr lang="en-GB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Render</a:t>
            </a:r>
          </a:p>
          <a:p>
            <a:endParaRPr lang="en-GB" dirty="0"/>
          </a:p>
          <a:p>
            <a:endParaRPr lang="hr-HR" dirty="0"/>
          </a:p>
          <a:p>
            <a:endParaRPr lang="hr-H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19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4A6F8-F12B-D70E-A910-152833FD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EEF6-6C74-7915-78A2-8CC5D4E6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GB" err="1"/>
              <a:t>Organizacija</a:t>
            </a:r>
            <a:r>
              <a:rPr lang="en-GB"/>
              <a:t> rada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646F0F-2F3C-5F9F-141A-451A2020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12</a:t>
            </a:fld>
            <a:endParaRPr lang="en-US" sz="1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E8F55D-EB7B-045F-95B0-1F2128393317}"/>
              </a:ext>
            </a:extLst>
          </p:cNvPr>
          <p:cNvSpPr/>
          <p:nvPr/>
        </p:nvSpPr>
        <p:spPr>
          <a:xfrm>
            <a:off x="761997" y="2252135"/>
            <a:ext cx="8545902" cy="2320506"/>
          </a:xfrm>
          <a:prstGeom prst="rect">
            <a:avLst/>
          </a:prstGeom>
          <a:solidFill>
            <a:schemeClr val="tx2">
              <a:alpha val="30196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CF09C584-C963-C757-BC9C-7AE9193A8BF7}"/>
              </a:ext>
            </a:extLst>
          </p:cNvPr>
          <p:cNvSpPr/>
          <p:nvPr/>
        </p:nvSpPr>
        <p:spPr>
          <a:xfrm rot="10800000" flipH="1">
            <a:off x="761997" y="2267030"/>
            <a:ext cx="2956560" cy="754376"/>
          </a:xfrm>
          <a:prstGeom prst="snipRoundRect">
            <a:avLst>
              <a:gd name="adj1" fmla="val 0"/>
              <a:gd name="adj2" fmla="val 429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32FC0-BE2A-42A0-4BAF-A68466FA87B7}"/>
              </a:ext>
            </a:extLst>
          </p:cNvPr>
          <p:cNvSpPr txBox="1"/>
          <p:nvPr/>
        </p:nvSpPr>
        <p:spPr>
          <a:xfrm>
            <a:off x="761995" y="2212133"/>
            <a:ext cx="2743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chemeClr val="tx2"/>
                </a:solidFill>
              </a:rPr>
              <a:t>Neprogramski</a:t>
            </a:r>
            <a:r>
              <a:rPr lang="en-GB" b="1" dirty="0">
                <a:solidFill>
                  <a:schemeClr val="tx2"/>
                </a:solidFill>
              </a:rPr>
              <a:t> (</a:t>
            </a:r>
            <a:r>
              <a:rPr lang="en-GB" b="1" dirty="0" err="1">
                <a:solidFill>
                  <a:schemeClr val="tx2"/>
                </a:solidFill>
              </a:rPr>
              <a:t>organizacijski</a:t>
            </a:r>
            <a:r>
              <a:rPr lang="en-GB" b="1" dirty="0">
                <a:solidFill>
                  <a:schemeClr val="tx2"/>
                </a:solidFill>
              </a:rPr>
              <a:t>) </a:t>
            </a:r>
            <a:r>
              <a:rPr lang="en-GB" b="1" dirty="0" err="1">
                <a:solidFill>
                  <a:schemeClr val="tx2"/>
                </a:solidFill>
              </a:rPr>
              <a:t>zadatci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BCB88-9F6F-470E-F4FE-B2CB75188C30}"/>
              </a:ext>
            </a:extLst>
          </p:cNvPr>
          <p:cNvSpPr txBox="1"/>
          <p:nvPr/>
        </p:nvSpPr>
        <p:spPr>
          <a:xfrm>
            <a:off x="1076959" y="3196859"/>
            <a:ext cx="763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Organizacija</a:t>
            </a:r>
            <a:r>
              <a:rPr lang="en-GB" dirty="0"/>
              <a:t> </a:t>
            </a:r>
            <a:r>
              <a:rPr lang="en-GB" dirty="0" err="1"/>
              <a:t>komunikacije</a:t>
            </a:r>
            <a:r>
              <a:rPr lang="en-GB" dirty="0"/>
              <a:t>: WhatsApp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GitHub </a:t>
            </a:r>
            <a:r>
              <a:rPr lang="en-GB" dirty="0" err="1"/>
              <a:t>iskustvo</a:t>
            </a:r>
            <a:r>
              <a:rPr lang="en-GB" dirty="0"/>
              <a:t>: </a:t>
            </a:r>
            <a:r>
              <a:rPr lang="en-GB" dirty="0" err="1"/>
              <a:t>jako</a:t>
            </a:r>
            <a:r>
              <a:rPr lang="en-GB" dirty="0"/>
              <a:t> </a:t>
            </a:r>
            <a:r>
              <a:rPr lang="en-GB" dirty="0" err="1"/>
              <a:t>korisno</a:t>
            </a:r>
            <a:r>
              <a:rPr lang="en-GB" dirty="0"/>
              <a:t>, </a:t>
            </a:r>
            <a:r>
              <a:rPr lang="en-GB" dirty="0" err="1"/>
              <a:t>potrebno</a:t>
            </a:r>
            <a:r>
              <a:rPr lang="en-GB" dirty="0"/>
              <a:t> </a:t>
            </a:r>
            <a:r>
              <a:rPr lang="en-GB" dirty="0" err="1"/>
              <a:t>poraditi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commitovima</a:t>
            </a:r>
            <a:endParaRPr lang="en-GB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Primijenjeni</a:t>
            </a:r>
            <a:r>
              <a:rPr lang="en-GB" dirty="0"/>
              <a:t> model </a:t>
            </a:r>
            <a:r>
              <a:rPr lang="hr-HR" dirty="0"/>
              <a:t>životnog ciklusa</a:t>
            </a:r>
            <a:r>
              <a:rPr lang="en-GB" dirty="0"/>
              <a:t>: </a:t>
            </a:r>
            <a:r>
              <a:rPr lang="en-GB" dirty="0" err="1"/>
              <a:t>vodopadni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hr-HR" dirty="0"/>
              <a:t>čin rada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94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24" y="329242"/>
            <a:ext cx="10665845" cy="1325563"/>
          </a:xfrm>
        </p:spPr>
        <p:txBody>
          <a:bodyPr/>
          <a:lstStyle/>
          <a:p>
            <a:r>
              <a:rPr lang="hr-HR"/>
              <a:t>TABLICA ULOŽENOG TRUDA</a:t>
            </a:r>
            <a:endParaRPr lang="en-US"/>
          </a:p>
        </p:txBody>
      </p:sp>
      <p:graphicFrame>
        <p:nvGraphicFramePr>
          <p:cNvPr id="14" name="Table Placeholder 13">
            <a:extLst>
              <a:ext uri="{FF2B5EF4-FFF2-40B4-BE49-F238E27FC236}">
                <a16:creationId xmlns:a16="http://schemas.microsoft.com/office/drawing/2014/main" id="{597B3320-3330-1F17-5E4B-B24CAB0A4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538102233"/>
              </p:ext>
            </p:extLst>
          </p:nvPr>
        </p:nvGraphicFramePr>
        <p:xfrm>
          <a:off x="303796" y="1376795"/>
          <a:ext cx="11460480" cy="472408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0453">
                  <a:extLst>
                    <a:ext uri="{9D8B030D-6E8A-4147-A177-3AD203B41FA5}">
                      <a16:colId xmlns:a16="http://schemas.microsoft.com/office/drawing/2014/main" val="3569023038"/>
                    </a:ext>
                  </a:extLst>
                </a:gridCol>
                <a:gridCol w="1285336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1351829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  <a:gridCol w="1637211">
                  <a:extLst>
                    <a:ext uri="{9D8B030D-6E8A-4147-A177-3AD203B41FA5}">
                      <a16:colId xmlns:a16="http://schemas.microsoft.com/office/drawing/2014/main" val="4278473568"/>
                    </a:ext>
                  </a:extLst>
                </a:gridCol>
                <a:gridCol w="1348970">
                  <a:extLst>
                    <a:ext uri="{9D8B030D-6E8A-4147-A177-3AD203B41FA5}">
                      <a16:colId xmlns:a16="http://schemas.microsoft.com/office/drawing/2014/main" val="760742182"/>
                    </a:ext>
                  </a:extLst>
                </a:gridCol>
                <a:gridCol w="1487326">
                  <a:extLst>
                    <a:ext uri="{9D8B030D-6E8A-4147-A177-3AD203B41FA5}">
                      <a16:colId xmlns:a16="http://schemas.microsoft.com/office/drawing/2014/main" val="2871993260"/>
                    </a:ext>
                  </a:extLst>
                </a:gridCol>
                <a:gridCol w="1325195">
                  <a:extLst>
                    <a:ext uri="{9D8B030D-6E8A-4147-A177-3AD203B41FA5}">
                      <a16:colId xmlns:a16="http://schemas.microsoft.com/office/drawing/2014/main" val="4005863839"/>
                    </a:ext>
                  </a:extLst>
                </a:gridCol>
                <a:gridCol w="1534160">
                  <a:extLst>
                    <a:ext uri="{9D8B030D-6E8A-4147-A177-3AD203B41FA5}">
                      <a16:colId xmlns:a16="http://schemas.microsoft.com/office/drawing/2014/main" val="3502322101"/>
                    </a:ext>
                  </a:extLst>
                </a:gridCol>
              </a:tblGrid>
              <a:tr h="715007">
                <a:tc>
                  <a:txBody>
                    <a:bodyPr/>
                    <a:lstStyle/>
                    <a:p>
                      <a:pPr algn="l" rtl="0" fontAlgn="base"/>
                      <a:endParaRPr lang="en-US" b="1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hr-HR" b="1" i="0" dirty="0">
                          <a:solidFill>
                            <a:schemeClr val="tx1"/>
                          </a:solidFill>
                          <a:effectLst/>
                        </a:rPr>
                        <a:t>J. Bušelić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hr-HR" sz="1800" b="1" i="0" dirty="0">
                          <a:solidFill>
                            <a:schemeClr val="tx1"/>
                          </a:solidFill>
                          <a:effectLst/>
                        </a:rPr>
                        <a:t>L. Jurjević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hr-HR" sz="1800" b="1" i="0" dirty="0">
                          <a:solidFill>
                            <a:schemeClr val="tx1"/>
                          </a:solidFill>
                          <a:effectLst/>
                        </a:rPr>
                        <a:t>R. Kovačić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hr-HR" sz="1800" b="1" i="0" dirty="0">
                          <a:solidFill>
                            <a:schemeClr val="tx1"/>
                          </a:solidFill>
                          <a:effectLst/>
                        </a:rPr>
                        <a:t>L. Kozić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hr-HR" b="1" i="0" dirty="0">
                          <a:solidFill>
                            <a:schemeClr val="tx1"/>
                          </a:solidFill>
                          <a:effectLst/>
                        </a:rPr>
                        <a:t>L. </a:t>
                      </a:r>
                      <a:r>
                        <a:rPr lang="hr-HR" b="1" i="0" dirty="0" err="1">
                          <a:solidFill>
                            <a:schemeClr val="tx1"/>
                          </a:solidFill>
                          <a:effectLst/>
                        </a:rPr>
                        <a:t>Krivski</a:t>
                      </a:r>
                      <a:endParaRPr lang="en-US" b="1" i="0" dirty="0" err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hr-HR" b="1" i="0" dirty="0">
                          <a:solidFill>
                            <a:schemeClr val="tx1"/>
                          </a:solidFill>
                          <a:effectLst/>
                        </a:rPr>
                        <a:t>R. Matek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hr-HR" b="1" i="0" dirty="0">
                          <a:solidFill>
                            <a:schemeClr val="tx1"/>
                          </a:solidFill>
                          <a:effectLst/>
                        </a:rPr>
                        <a:t>M. </a:t>
                      </a:r>
                      <a:r>
                        <a:rPr lang="hr-HR" b="1" i="0" dirty="0" err="1">
                          <a:solidFill>
                            <a:schemeClr val="tx1"/>
                          </a:solidFill>
                          <a:effectLst/>
                        </a:rPr>
                        <a:t>Mikulčić</a:t>
                      </a:r>
                      <a:endParaRPr lang="en-US" b="1" i="0" dirty="0" err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443464">
                <a:tc>
                  <a:txBody>
                    <a:bodyPr/>
                    <a:lstStyle/>
                    <a:p>
                      <a:pPr algn="l" rtl="0" fontAlgn="base"/>
                      <a:r>
                        <a:rPr lang="hr-HR" sz="1400" b="0" i="0" dirty="0" err="1">
                          <a:solidFill>
                            <a:schemeClr val="tx1"/>
                          </a:solidFill>
                          <a:effectLst/>
                        </a:rPr>
                        <a:t>Frontend</a:t>
                      </a:r>
                      <a:endParaRPr lang="en-US" sz="1400" b="0" i="0" dirty="0" err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410835">
                <a:tc>
                  <a:txBody>
                    <a:bodyPr/>
                    <a:lstStyle/>
                    <a:p>
                      <a:pPr algn="l" rtl="0" fontAlgn="base"/>
                      <a:r>
                        <a:rPr lang="hr-HR" sz="1400" b="0" i="0" dirty="0" err="1">
                          <a:solidFill>
                            <a:srgbClr val="000000"/>
                          </a:solidFill>
                          <a:effectLst/>
                        </a:rPr>
                        <a:t>Backend</a:t>
                      </a:r>
                      <a:endParaRPr lang="en-US" sz="1400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296248">
                <a:tc>
                  <a:txBody>
                    <a:bodyPr/>
                    <a:lstStyle/>
                    <a:p>
                      <a:pPr algn="l" rtl="0" fontAlgn="base"/>
                      <a:r>
                        <a:rPr lang="hr-HR" sz="1400" b="0" i="0" dirty="0">
                          <a:solidFill>
                            <a:srgbClr val="000000"/>
                          </a:solidFill>
                          <a:effectLst/>
                        </a:rPr>
                        <a:t>Dokumentacija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29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  <a:tr h="416424">
                <a:tc>
                  <a:txBody>
                    <a:bodyPr/>
                    <a:lstStyle/>
                    <a:p>
                      <a:pPr algn="l" rtl="0" fontAlgn="base"/>
                      <a:r>
                        <a:rPr lang="hr-HR" sz="1400" b="0" i="0" dirty="0" err="1">
                          <a:solidFill>
                            <a:srgbClr val="000000"/>
                          </a:solidFill>
                          <a:effectLst/>
                        </a:rPr>
                        <a:t>Deployment</a:t>
                      </a:r>
                      <a:endParaRPr lang="en-US" sz="1400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074674"/>
                  </a:ext>
                </a:extLst>
              </a:tr>
              <a:tr h="715007">
                <a:tc>
                  <a:txBody>
                    <a:bodyPr/>
                    <a:lstStyle/>
                    <a:p>
                      <a:pPr algn="l" rtl="0" fontAlgn="base"/>
                      <a:r>
                        <a:rPr lang="hr-HR" sz="1400" b="0" i="0" dirty="0">
                          <a:solidFill>
                            <a:srgbClr val="000000"/>
                          </a:solidFill>
                          <a:effectLst/>
                        </a:rPr>
                        <a:t>Učenje o korištenim tehnologijama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18,5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65680"/>
                  </a:ext>
                </a:extLst>
              </a:tr>
              <a:tr h="475576">
                <a:tc>
                  <a:txBody>
                    <a:bodyPr/>
                    <a:lstStyle/>
                    <a:p>
                      <a:pPr algn="l" rtl="0" fontAlgn="base"/>
                      <a:r>
                        <a:rPr lang="hr-HR" sz="1400" b="0" i="0" dirty="0">
                          <a:solidFill>
                            <a:srgbClr val="000000"/>
                          </a:solidFill>
                          <a:effectLst/>
                        </a:rPr>
                        <a:t>Izrada baze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211955"/>
                  </a:ext>
                </a:extLst>
              </a:tr>
              <a:tr h="511448">
                <a:tc>
                  <a:txBody>
                    <a:bodyPr/>
                    <a:lstStyle/>
                    <a:p>
                      <a:pPr algn="l" rtl="0" fontAlgn="base"/>
                      <a:r>
                        <a:rPr lang="hr-HR" sz="1400" b="0" i="0" dirty="0">
                          <a:solidFill>
                            <a:srgbClr val="000000"/>
                          </a:solidFill>
                          <a:effectLst/>
                        </a:rPr>
                        <a:t>Izrada dizajna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051406"/>
                  </a:ext>
                </a:extLst>
              </a:tr>
              <a:tr h="715007">
                <a:tc>
                  <a:txBody>
                    <a:bodyPr/>
                    <a:lstStyle/>
                    <a:p>
                      <a:pPr algn="l" rtl="0" fontAlgn="base"/>
                      <a:r>
                        <a:rPr lang="hr-HR" sz="1400" b="0" i="0" dirty="0">
                          <a:solidFill>
                            <a:srgbClr val="000000"/>
                          </a:solidFill>
                          <a:effectLst/>
                        </a:rPr>
                        <a:t>Sastanci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9289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z="1400" smtClean="0"/>
              <a:pPr/>
              <a:t>13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859973"/>
          </a:xfrm>
        </p:spPr>
        <p:txBody>
          <a:bodyPr/>
          <a:lstStyle/>
          <a:p>
            <a:r>
              <a:rPr lang="hr-HR"/>
              <a:t>ZAključak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1757681"/>
            <a:ext cx="5528217" cy="3696062"/>
          </a:xfrm>
        </p:spPr>
        <p:txBody>
          <a:bodyPr bIns="0"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Projekt je </a:t>
            </a:r>
            <a:r>
              <a:rPr lang="en-US" err="1"/>
              <a:t>omogućio</a:t>
            </a:r>
            <a:r>
              <a:rPr lang="en-US"/>
              <a:t> </a:t>
            </a:r>
            <a:r>
              <a:rPr lang="en-US" err="1"/>
              <a:t>primjenu</a:t>
            </a:r>
            <a:r>
              <a:rPr lang="en-US"/>
              <a:t> </a:t>
            </a:r>
            <a:r>
              <a:rPr lang="en-US" err="1"/>
              <a:t>teorijskih</a:t>
            </a:r>
            <a:r>
              <a:rPr lang="en-US"/>
              <a:t> </a:t>
            </a:r>
            <a:r>
              <a:rPr lang="en-US" err="1"/>
              <a:t>znanja</a:t>
            </a:r>
            <a:r>
              <a:rPr lang="en-US"/>
              <a:t> u </a:t>
            </a:r>
            <a:r>
              <a:rPr lang="en-US" err="1"/>
              <a:t>praksi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razvoj</a:t>
            </a:r>
            <a:r>
              <a:rPr lang="en-US"/>
              <a:t> </a:t>
            </a:r>
            <a:r>
              <a:rPr lang="en-US" err="1"/>
              <a:t>tehničkih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timskih</a:t>
            </a:r>
            <a:r>
              <a:rPr lang="en-US"/>
              <a:t> </a:t>
            </a:r>
            <a:r>
              <a:rPr lang="en-US" err="1"/>
              <a:t>vještina</a:t>
            </a:r>
            <a:endParaRPr lang="hr-H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Stečeno</a:t>
            </a:r>
            <a:r>
              <a:rPr lang="en-US"/>
              <a:t> </a:t>
            </a:r>
            <a:r>
              <a:rPr lang="en-US" err="1"/>
              <a:t>iskustvo</a:t>
            </a:r>
            <a:r>
              <a:rPr lang="en-US"/>
              <a:t> u </a:t>
            </a:r>
            <a:r>
              <a:rPr lang="en-US" err="1"/>
              <a:t>planiranju</a:t>
            </a:r>
            <a:r>
              <a:rPr lang="en-US"/>
              <a:t>, </a:t>
            </a:r>
            <a:r>
              <a:rPr lang="en-US" err="1"/>
              <a:t>suradnji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razvoju</a:t>
            </a:r>
            <a:r>
              <a:rPr lang="en-US"/>
              <a:t> </a:t>
            </a:r>
            <a:r>
              <a:rPr lang="en-US" err="1"/>
              <a:t>softvera</a:t>
            </a:r>
            <a:r>
              <a:rPr lang="en-US"/>
              <a:t> </a:t>
            </a:r>
            <a:r>
              <a:rPr lang="en-US" err="1"/>
              <a:t>predstavlja</a:t>
            </a:r>
            <a:r>
              <a:rPr lang="en-US"/>
              <a:t> </a:t>
            </a:r>
            <a:r>
              <a:rPr lang="en-US" err="1"/>
              <a:t>dobru</a:t>
            </a:r>
            <a:r>
              <a:rPr lang="en-US"/>
              <a:t> </a:t>
            </a:r>
            <a:r>
              <a:rPr lang="en-US" err="1"/>
              <a:t>podlogu</a:t>
            </a:r>
            <a:r>
              <a:rPr lang="en-US"/>
              <a:t> za </a:t>
            </a:r>
            <a:r>
              <a:rPr lang="en-US" err="1"/>
              <a:t>buduće</a:t>
            </a:r>
            <a:r>
              <a:rPr lang="en-US"/>
              <a:t> </a:t>
            </a:r>
            <a:r>
              <a:rPr lang="en-US" err="1"/>
              <a:t>projekte</a:t>
            </a:r>
            <a:endParaRPr lang="hr-H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Uočeni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izazovi</a:t>
            </a:r>
            <a:r>
              <a:rPr lang="en-US"/>
              <a:t> u </a:t>
            </a:r>
            <a:r>
              <a:rPr lang="en-US" err="1"/>
              <a:t>početnom</a:t>
            </a:r>
            <a:r>
              <a:rPr lang="en-US"/>
              <a:t> </a:t>
            </a:r>
            <a:r>
              <a:rPr lang="en-US" err="1"/>
              <a:t>planiranju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procjeni</a:t>
            </a:r>
            <a:r>
              <a:rPr lang="en-US"/>
              <a:t> </a:t>
            </a:r>
            <a:r>
              <a:rPr lang="en-US" err="1"/>
              <a:t>opsega</a:t>
            </a:r>
            <a:r>
              <a:rPr lang="en-US"/>
              <a:t> </a:t>
            </a:r>
            <a:r>
              <a:rPr lang="en-US" err="1"/>
              <a:t>projekta</a:t>
            </a:r>
            <a:r>
              <a:rPr lang="en-US"/>
              <a:t>, </a:t>
            </a:r>
            <a:r>
              <a:rPr lang="en-US" err="1"/>
              <a:t>što</a:t>
            </a:r>
            <a:r>
              <a:rPr lang="en-US"/>
              <a:t> je </a:t>
            </a:r>
            <a:r>
              <a:rPr lang="en-US" err="1"/>
              <a:t>povremeno</a:t>
            </a:r>
            <a:r>
              <a:rPr lang="en-US"/>
              <a:t> </a:t>
            </a:r>
            <a:r>
              <a:rPr lang="en-US" err="1"/>
              <a:t>zahtijevalo</a:t>
            </a:r>
            <a:r>
              <a:rPr lang="en-US"/>
              <a:t> </a:t>
            </a:r>
            <a:r>
              <a:rPr lang="en-US" err="1"/>
              <a:t>prilagodbe</a:t>
            </a:r>
            <a:r>
              <a:rPr lang="en-US"/>
              <a:t> </a:t>
            </a:r>
            <a:r>
              <a:rPr lang="en-US" err="1"/>
              <a:t>raspodjele</a:t>
            </a:r>
            <a:r>
              <a:rPr lang="en-US"/>
              <a:t> </a:t>
            </a:r>
            <a:r>
              <a:rPr lang="en-US" err="1"/>
              <a:t>zadataka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rokova</a:t>
            </a:r>
            <a:endParaRPr lang="en-US"/>
          </a:p>
        </p:txBody>
      </p:sp>
      <p:sp>
        <p:nvSpPr>
          <p:cNvPr id="6" name="Slide Number Placeholder 29">
            <a:extLst>
              <a:ext uri="{FF2B5EF4-FFF2-40B4-BE49-F238E27FC236}">
                <a16:creationId xmlns:a16="http://schemas.microsoft.com/office/drawing/2014/main" id="{0149011D-4DA6-D319-D43E-510F95E0B758}"/>
              </a:ext>
            </a:extLst>
          </p:cNvPr>
          <p:cNvSpPr txBox="1">
            <a:spLocks/>
          </p:cNvSpPr>
          <p:nvPr/>
        </p:nvSpPr>
        <p:spPr>
          <a:xfrm>
            <a:off x="11058797" y="6394995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z="1400" smtClean="0">
                <a:solidFill>
                  <a:schemeClr val="tx2"/>
                </a:solidFill>
              </a:rPr>
              <a:pPr/>
              <a:t>14</a:t>
            </a:fld>
            <a:endParaRPr 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{F7C8F9EF-D6A8-451C-97CE-2281C80ABF5A}TF55c86556-70ea-476e-aa05-13a38f2d5b0da1381d77_win32-a3c664429073</Template>
  <TotalTime>0</TotalTime>
  <Words>631</Words>
  <Application>Microsoft Office PowerPoint</Application>
  <PresentationFormat>Widescreen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 Next LT Pro</vt:lpstr>
      <vt:lpstr>Calibri</vt:lpstr>
      <vt:lpstr>Courier New</vt:lpstr>
      <vt:lpstr>Custom</vt:lpstr>
      <vt:lpstr>ClayPlay DevNopes  Prezentacija projekta</vt:lpstr>
      <vt:lpstr>Sadržaj</vt:lpstr>
      <vt:lpstr>Članovi grupe</vt:lpstr>
      <vt:lpstr>O projektu</vt:lpstr>
      <vt:lpstr>Pregled najvažnijih zahtjeva</vt:lpstr>
      <vt:lpstr>Pregled najvažnijih zahtjeva</vt:lpstr>
      <vt:lpstr>UML dijagram obrazaca uporabe</vt:lpstr>
      <vt:lpstr>Sekvencijski dijagrami</vt:lpstr>
      <vt:lpstr>Arhitektura sustava</vt:lpstr>
      <vt:lpstr>ISPITIVANJE</vt:lpstr>
      <vt:lpstr>KORIŠTENI ALATI i tehnlogije</vt:lpstr>
      <vt:lpstr>Organizacija rada</vt:lpstr>
      <vt:lpstr>TABLICA ULOŽENOG TRUDA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Lucija Kozić</dc:creator>
  <cp:lastModifiedBy>Lucija Kozić</cp:lastModifiedBy>
  <cp:revision>92</cp:revision>
  <dcterms:created xsi:type="dcterms:W3CDTF">2026-01-21T10:49:24Z</dcterms:created>
  <dcterms:modified xsi:type="dcterms:W3CDTF">2026-01-23T21:52:36Z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